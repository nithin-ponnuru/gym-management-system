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9" r:id="rId8"/>
    <p:sldId id="260" r:id="rId9"/>
    <p:sldId id="261" r:id="rId10"/>
    <p:sldId id="270" r:id="rId11"/>
    <p:sldId id="262" r:id="rId12"/>
    <p:sldId id="263" r:id="rId13"/>
    <p:sldId id="264" r:id="rId14"/>
    <p:sldId id="265" r:id="rId15"/>
    <p:sldId id="266" r:id="rId16"/>
    <p:sldId id="267" r:id="rId17"/>
    <p:sldId id="268" r:id="rId18"/>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9" userDrawn="1">
          <p15:clr>
            <a:srgbClr val="A4A3A4"/>
          </p15:clr>
        </p15:guide>
        <p15:guide id="2" pos="284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89"/>
        <p:guide pos="284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morning respected evaluator and faculty guide. Welcome to my MongoDB Mini Project presentation on the FitPro Gym Management System. FitPro is an end-to-end full-stack MERN application engineered to digitize and automate gym operations. In this presentation, I will detail our MongoDB schema design across 8 collections, compound indexing strategies, aggregation pipelines, and live working workflows.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2 introduces the FitPro system overview. In manual gym operations, managing member records and tracking expiring memberships is prone to human error and revenue loss. FitPro solves this with a centralized web solution connecting gym administrators and members. The right side shows our running application dashboard, powered directly by MongoDB aggregation pipelines for revenue and attendance analytics.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3 outlines the problem statement and our core technical objectives. Traditional fitness centers struggle with manual book-keeping, missed membership renewal dates, and proxy attendance entries. Our verified project objectives directly tackle these operational pain points. By enforcing compound unique indexes in MongoDB, we guarantee zero duplicate attendance records, and by using background cron jobs, we eliminate revenue leakage by alerting staff before memberships expire.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4 details the modular solution architecture of FitPro. The platform divides capabilities into three robust pillars: first, the Admin Management Suite for facility oversight; second, the Member Experience Portal with self-service requests and an embedded AI assistant; and third, the underlying Event &amp; Data Services that handle real-time WebSockets, automated cron audits, and database integrity.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5 is our dedicated System Workflow Diagram. The user interaction starts by accessing FitPro and authenticating with credentials. The JWT token identifies the role and branches the user into either the Admin Portal or the Member Portal. Notice that both portals converge on the shared Express backend API and Mongoose layer, which reads and writes to our MongoDB database across 8 collections. When an admin approves a plan request, MongoDB updates the record, and Socket.IO broadcasts a live event back to the UI.</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6 illustrates our technology stack and 4-tier architecture. On the client side, React 18 built with Vite communicates via REST endpoints and WebSockets. The Express server validates requests with JWT middleware, delegates to Mongoose models, and executes queries on MongoDB. It is crucial to note that MongoDB Compass is our GUI development and inspection client, while MongoDB itself is the robust underlying database engine.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7 covers our MongoDB database design for GymManagementDB. We designed 8 specialized collections. A critical MongoDB design choice is our balance between referencing and embedding. We reference members and trainers via ObjectId to maintain a single source of truth. However, we embed planSnapshot inside membermemberships. This ensures that if the gym raises membership prices in the future, past subscription records remain immutable and historically accurate.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8 provides concrete visual evidence directly from MongoDB Compass. On the left, we inspect a real document from the members collection, verifying the auto-generated MEM0001 identifier, BSON typing, and the trainer ObjectId reference. On the right, we inspect a real subscription document from membermemberships, confirming our embedded planSnapshot object and ISODate fields used for automated expiry auditing.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9 highlights data validation, entity relationships, and indexing. We enforce strict data types, regular expressions, and enums at the schema level. In terms of indexing, our most critical optimization is the compound unique index on memberId and date in the attendances collection. This database-level constraint makes it physically impossible for a race condition or user double-click to record a member present twice on the same day.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10 demonstrates actual source code implementations of all four CRUD operations. For Create, we auto-generate IDs and trigger real-time alerts. For Read, we combine text search with Mongoose populate. For Update, the admin approves a request which atomically creates an active membership. And for Delete, we demonstrate cascading referential cleanup by updating all member documents to set their trainerId to null when a trainer is deleted.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11 demonstrates MongoDB's powerful Aggregation Framework in FitPro. Instead of fetching thousands of raw records and processing them in JavaScript, we execute 5-stage aggregation pipelines directly on the database engine. In getRevenueByPlan, we filter with $match, perform a relational join with $lookup, unwind the array, group to calculate sum and average revenue, and sort descending. This delivers sub-second analytics for the executive charts.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12 displays our live application interface across key portals. At top-left, the Admin Dashboard shows live metric counts and aggregation graphs. At top-right, the Member Portal shows Nithin Ponnuru's active membership status, profile details, and attendance history. At bottom-left, the real-time Notification Bell displays alerts categorized into 8 distinct filters, and at bottom-right, our AI Fitness Assistant provides real-time fitness advice powered by OpenRouter and Claude.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13 provides our comprehensive testing matrix. Every single test listed here was executed and verified on the running application. We validated role-based access control, atomic ID generation, duplicate attendance prevention via compound indexes, and Socket.IO real-time delivery. We also documented three key engineering fixes: updating Mongoose pre-save hooks for Mongoose 7, eliminating ID race conditions, and restoring token state in our React AuthContext.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14 reflects on our engineering challenges, key achievements, and future roadmap. Handling ID generation collisions and avoiding notification spam taught us how critical database-level constraints and deterministic keys are. In conclusion, FitPro successfully models all real-world gym operations in MongoDB. Looking ahead, integrating online payment gateways like Razorpay and physical biometric turnstiles will make FitPro an enterprise-grade solution.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15 concludes our presentation with academic references, official documentation links, and our GitHub repository. I would like to sincerely thank my project guide and the faculty evaluation panel for your time, guidance, and feedback. I am now open to your questions regarding our MongoDB schema design, aggregation pipelines, CRUD operations, or MERN architecture.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7.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6583680" cy="5975985"/>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1"/>
          <a:stretch>
            <a:fillRect/>
          </a:stretch>
        </p:blipFill>
        <p:spPr>
          <a:xfrm>
            <a:off x="1097280" y="1005840"/>
            <a:ext cx="1188720" cy="1188720"/>
          </a:xfrm>
          <a:prstGeom prst="rect">
            <a:avLst/>
          </a:prstGeom>
        </p:spPr>
      </p:pic>
      <p:sp>
        <p:nvSpPr>
          <p:cNvPr id="5" name="TextBox 4"/>
          <p:cNvSpPr txBox="1"/>
          <p:nvPr/>
        </p:nvSpPr>
        <p:spPr>
          <a:xfrm>
            <a:off x="2468880" y="1005840"/>
            <a:ext cx="4572000" cy="1188720"/>
          </a:xfrm>
          <a:prstGeom prst="rect">
            <a:avLst/>
          </a:prstGeom>
          <a:noFill/>
        </p:spPr>
        <p:txBody>
          <a:bodyPr wrap="square">
            <a:spAutoFit/>
          </a:bodyPr>
          <a:lstStyle/>
          <a:p>
            <a:pPr>
              <a:defRPr sz="3600" b="1">
                <a:solidFill>
                  <a:srgbClr val="0F172A"/>
                </a:solidFill>
                <a:latin typeface="Segoe UI" panose="020B0502040204020203"/>
              </a:defRPr>
            </a:pPr>
            <a:r>
              <a:t>FitPro</a:t>
            </a:r>
          </a:p>
          <a:p>
            <a:pPr>
              <a:defRPr sz="2000" b="1">
                <a:solidFill>
                  <a:srgbClr val="6366F1"/>
                </a:solidFill>
                <a:latin typeface="Segoe UI" panose="020B0502040204020203"/>
              </a:defRPr>
            </a:pPr>
            <a:r>
              <a:t>Gym Management System</a:t>
            </a:r>
          </a:p>
        </p:txBody>
      </p:sp>
      <p:sp>
        <p:nvSpPr>
          <p:cNvPr id="6" name="Rounded Rectangle 5"/>
          <p:cNvSpPr/>
          <p:nvPr/>
        </p:nvSpPr>
        <p:spPr>
          <a:xfrm>
            <a:off x="1097280" y="2331720"/>
            <a:ext cx="5852160" cy="384048"/>
          </a:xfrm>
          <a:prstGeom prst="roundRect">
            <a:avLst/>
          </a:prstGeom>
          <a:solidFill>
            <a:srgbClr val="D1FAE5"/>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9669"/>
                </a:solidFill>
                <a:latin typeface="Segoe UI" panose="020B0502040204020203"/>
              </a:defRPr>
            </a:pPr>
            <a:r>
              <a:t>MongoDB Mini Project Presentation</a:t>
            </a:r>
          </a:p>
        </p:txBody>
      </p:sp>
      <p:sp>
        <p:nvSpPr>
          <p:cNvPr id="7" name="TextBox 6"/>
          <p:cNvSpPr txBox="1"/>
          <p:nvPr/>
        </p:nvSpPr>
        <p:spPr>
          <a:xfrm>
            <a:off x="1097280" y="2880360"/>
            <a:ext cx="5852160" cy="2163445"/>
          </a:xfrm>
          <a:prstGeom prst="rect">
            <a:avLst/>
          </a:prstGeom>
          <a:noFill/>
        </p:spPr>
        <p:txBody>
          <a:bodyPr wrap="square">
            <a:spAutoFit/>
          </a:bodyPr>
          <a:lstStyle/>
          <a:p>
            <a:pPr lvl="1">
              <a:spcAft>
                <a:spcPts val="400"/>
              </a:spcAft>
            </a:pPr>
            <a:r>
              <a:rPr sz="1200" b="1">
                <a:solidFill>
                  <a:srgbClr val="0F172A"/>
                </a:solidFill>
              </a:rPr>
              <a:t>Student Name: </a:t>
            </a:r>
            <a:r>
              <a:rPr lang="en-US" sz="1200" b="1">
                <a:solidFill>
                  <a:srgbClr val="0F172A"/>
                </a:solidFill>
              </a:rPr>
              <a:t> </a:t>
            </a:r>
            <a:r>
              <a:rPr sz="1200">
                <a:solidFill>
                  <a:srgbClr val="1E293B"/>
                </a:solidFill>
              </a:rPr>
              <a:t>Nithin Ponnuru</a:t>
            </a:r>
            <a:endParaRPr sz="1200">
              <a:solidFill>
                <a:srgbClr val="1E293B"/>
              </a:solidFill>
            </a:endParaRPr>
          </a:p>
          <a:p>
            <a:pPr lvl="1">
              <a:spcAft>
                <a:spcPts val="400"/>
              </a:spcAft>
            </a:pPr>
            <a:r>
              <a:rPr sz="1200" b="1">
                <a:solidFill>
                  <a:srgbClr val="0F172A"/>
                </a:solidFill>
              </a:rPr>
              <a:t>Registration / Roll No: </a:t>
            </a:r>
            <a:r>
              <a:rPr sz="1200">
                <a:solidFill>
                  <a:srgbClr val="1E293B"/>
                </a:solidFill>
              </a:rPr>
              <a:t>1230</a:t>
            </a:r>
            <a:r>
              <a:rPr lang="en-US" sz="1200">
                <a:solidFill>
                  <a:srgbClr val="1E293B"/>
                </a:solidFill>
              </a:rPr>
              <a:t>3486</a:t>
            </a:r>
            <a:endParaRPr lang="en-US" sz="1200">
              <a:solidFill>
                <a:srgbClr val="1E293B"/>
              </a:solidFill>
            </a:endParaRPr>
          </a:p>
          <a:p>
            <a:pPr lvl="1">
              <a:spcAft>
                <a:spcPts val="400"/>
              </a:spcAft>
            </a:pPr>
            <a:r>
              <a:rPr lang="en-US" sz="1200" b="1">
                <a:solidFill>
                  <a:srgbClr val="1E293B"/>
                </a:solidFill>
              </a:rPr>
              <a:t>Section: </a:t>
            </a:r>
            <a:r>
              <a:rPr lang="en-US" sz="1200">
                <a:solidFill>
                  <a:srgbClr val="1E293B"/>
                </a:solidFill>
              </a:rPr>
              <a:t>RK2P23EZA23</a:t>
            </a:r>
            <a:endParaRPr lang="en-US" sz="1200">
              <a:solidFill>
                <a:srgbClr val="1E293B"/>
              </a:solidFill>
            </a:endParaRPr>
          </a:p>
          <a:p>
            <a:pPr lvl="1">
              <a:spcAft>
                <a:spcPts val="400"/>
              </a:spcAft>
            </a:pPr>
            <a:r>
              <a:rPr lang="en-US" sz="1200" b="1">
                <a:solidFill>
                  <a:srgbClr val="1E293B"/>
                </a:solidFill>
              </a:rPr>
              <a:t>Roll.No: </a:t>
            </a:r>
            <a:r>
              <a:rPr lang="en-US" sz="1200">
                <a:solidFill>
                  <a:srgbClr val="1E293B"/>
                </a:solidFill>
              </a:rPr>
              <a:t>23</a:t>
            </a:r>
            <a:endParaRPr lang="en-US" sz="1200" b="1">
              <a:solidFill>
                <a:srgbClr val="1E293B"/>
              </a:solidFill>
            </a:endParaRPr>
          </a:p>
          <a:p>
            <a:pPr lvl="1">
              <a:spcAft>
                <a:spcPts val="400"/>
              </a:spcAft>
            </a:pPr>
            <a:endParaRPr sz="1200">
              <a:solidFill>
                <a:srgbClr val="1E293B"/>
              </a:solidFill>
            </a:endParaRPr>
          </a:p>
          <a:p>
            <a:pPr lvl="1">
              <a:spcAft>
                <a:spcPts val="400"/>
              </a:spcAft>
            </a:pPr>
            <a:r>
              <a:rPr sz="1200" b="1">
                <a:solidFill>
                  <a:srgbClr val="0F172A"/>
                </a:solidFill>
                <a:sym typeface="+mn-ea"/>
              </a:rPr>
              <a:t>Student Name:</a:t>
            </a:r>
            <a:r>
              <a:rPr lang="en-US" sz="1200" b="1">
                <a:solidFill>
                  <a:srgbClr val="0F172A"/>
                </a:solidFill>
                <a:sym typeface="+mn-ea"/>
              </a:rPr>
              <a:t>  </a:t>
            </a:r>
            <a:r>
              <a:rPr sz="1200" b="1">
                <a:solidFill>
                  <a:srgbClr val="0F172A"/>
                </a:solidFill>
                <a:sym typeface="+mn-ea"/>
              </a:rPr>
              <a:t> </a:t>
            </a:r>
            <a:r>
              <a:rPr lang="en-US" sz="1200">
                <a:solidFill>
                  <a:srgbClr val="0F172A"/>
                </a:solidFill>
                <a:sym typeface="+mn-ea"/>
              </a:rPr>
              <a:t>Baddam Hemanth Reddy</a:t>
            </a:r>
            <a:endParaRPr sz="1200">
              <a:solidFill>
                <a:srgbClr val="1E293B"/>
              </a:solidFill>
            </a:endParaRPr>
          </a:p>
          <a:p>
            <a:pPr lvl="1">
              <a:spcAft>
                <a:spcPts val="400"/>
              </a:spcAft>
            </a:pPr>
            <a:r>
              <a:rPr sz="1200" b="1">
                <a:solidFill>
                  <a:srgbClr val="0F172A"/>
                </a:solidFill>
                <a:sym typeface="+mn-ea"/>
              </a:rPr>
              <a:t>Registration / Roll No: </a:t>
            </a:r>
            <a:r>
              <a:rPr lang="en-US" sz="1200">
                <a:solidFill>
                  <a:srgbClr val="0F172A"/>
                </a:solidFill>
                <a:sym typeface="+mn-ea"/>
              </a:rPr>
              <a:t>12307348</a:t>
            </a:r>
            <a:endParaRPr lang="en-US" sz="1200">
              <a:solidFill>
                <a:srgbClr val="0F172A"/>
              </a:solidFill>
              <a:sym typeface="+mn-ea"/>
            </a:endParaRPr>
          </a:p>
          <a:p>
            <a:pPr lvl="1">
              <a:spcAft>
                <a:spcPts val="400"/>
              </a:spcAft>
            </a:pPr>
            <a:r>
              <a:rPr lang="en-US" sz="1200" b="1">
                <a:solidFill>
                  <a:srgbClr val="1E293B"/>
                </a:solidFill>
                <a:sym typeface="+mn-ea"/>
              </a:rPr>
              <a:t>Section: </a:t>
            </a:r>
            <a:r>
              <a:rPr lang="en-US" sz="1200">
                <a:solidFill>
                  <a:srgbClr val="1E293B"/>
                </a:solidFill>
                <a:sym typeface="+mn-ea"/>
              </a:rPr>
              <a:t>RK2P23EZA23</a:t>
            </a:r>
            <a:endParaRPr lang="en-US" sz="1200">
              <a:solidFill>
                <a:srgbClr val="1E293B"/>
              </a:solidFill>
              <a:sym typeface="+mn-ea"/>
            </a:endParaRPr>
          </a:p>
          <a:p>
            <a:pPr lvl="1">
              <a:spcAft>
                <a:spcPts val="400"/>
              </a:spcAft>
            </a:pPr>
            <a:r>
              <a:rPr lang="en-US" sz="1200" b="1">
                <a:solidFill>
                  <a:srgbClr val="1E293B"/>
                </a:solidFill>
              </a:rPr>
              <a:t>Roll.No: </a:t>
            </a:r>
            <a:r>
              <a:rPr lang="en-US" sz="1200">
                <a:solidFill>
                  <a:srgbClr val="1E293B"/>
                </a:solidFill>
              </a:rPr>
              <a:t>62</a:t>
            </a:r>
            <a:endParaRPr lang="en-US" sz="1200">
              <a:solidFill>
                <a:srgbClr val="1E293B"/>
              </a:solidFill>
            </a:endParaRPr>
          </a:p>
        </p:txBody>
      </p:sp>
      <p:sp>
        <p:nvSpPr>
          <p:cNvPr id="8" name="Rounded Rectangle 7"/>
          <p:cNvSpPr/>
          <p:nvPr/>
        </p:nvSpPr>
        <p:spPr>
          <a:xfrm>
            <a:off x="7589520" y="429260"/>
            <a:ext cx="4223385" cy="6012815"/>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8935" y="720090"/>
            <a:ext cx="2758440" cy="306705"/>
          </a:xfrm>
          <a:prstGeom prst="rect">
            <a:avLst/>
          </a:prstGeom>
          <a:noFill/>
        </p:spPr>
        <p:txBody>
          <a:bodyPr wrap="none">
            <a:spAutoFit/>
          </a:bodyPr>
          <a:lstStyle/>
          <a:p>
            <a:pPr indent="457200">
              <a:defRPr sz="1300" b="1">
                <a:solidFill>
                  <a:srgbClr val="0F172A"/>
                </a:solidFill>
              </a:defRPr>
            </a:pPr>
            <a:r>
              <a:rPr sz="1400"/>
              <a:t>Application Preview (Live UI)</a:t>
            </a:r>
            <a:endParaRPr sz="1400"/>
          </a:p>
        </p:txBody>
      </p:sp>
      <p:pic>
        <p:nvPicPr>
          <p:cNvPr id="10" name="Picture 9" descr="Screenshot (427).png"/>
          <p:cNvPicPr>
            <a:picLocks noChangeAspect="1"/>
          </p:cNvPicPr>
          <p:nvPr/>
        </p:nvPicPr>
        <p:blipFill>
          <a:blip r:embed="rId2"/>
          <a:stretch>
            <a:fillRect/>
          </a:stretch>
        </p:blipFill>
        <p:spPr>
          <a:xfrm>
            <a:off x="7772400" y="1325880"/>
            <a:ext cx="3789045" cy="2011680"/>
          </a:xfrm>
          <a:prstGeom prst="rect">
            <a:avLst/>
          </a:prstGeom>
        </p:spPr>
      </p:pic>
      <p:sp>
        <p:nvSpPr>
          <p:cNvPr id="11" name="TextBox 10"/>
          <p:cNvSpPr txBox="1"/>
          <p:nvPr/>
        </p:nvSpPr>
        <p:spPr>
          <a:xfrm>
            <a:off x="7772400" y="3474720"/>
            <a:ext cx="3782695" cy="2603500"/>
          </a:xfrm>
          <a:prstGeom prst="rect">
            <a:avLst/>
          </a:prstGeom>
          <a:noFill/>
        </p:spPr>
        <p:txBody>
          <a:bodyPr wrap="square">
            <a:spAutoFit/>
          </a:bodyPr>
          <a:lstStyle/>
          <a:p>
            <a:pPr>
              <a:spcAft>
                <a:spcPts val="400"/>
              </a:spcAft>
              <a:defRPr sz="1150" b="1">
                <a:solidFill>
                  <a:srgbClr val="0F172A"/>
                </a:solidFill>
              </a:defRPr>
            </a:pPr>
            <a:r>
              <a:rPr sz="1200"/>
              <a:t>Core Technology Stack:</a:t>
            </a:r>
            <a:endParaRPr sz="1200"/>
          </a:p>
          <a:p>
            <a:pPr>
              <a:lnSpc>
                <a:spcPct val="115000"/>
              </a:lnSpc>
              <a:spcAft>
                <a:spcPts val="300"/>
              </a:spcAft>
            </a:pPr>
            <a:r>
              <a:rPr sz="1200" b="1">
                <a:solidFill>
                  <a:srgbClr val="10B981"/>
                </a:solidFill>
              </a:rPr>
              <a:t>• </a:t>
            </a:r>
            <a:r>
              <a:rPr sz="1200" b="1">
                <a:solidFill>
                  <a:srgbClr val="0F172A"/>
                </a:solidFill>
                <a:latin typeface="Segoe UI" panose="020B0502040204020203"/>
              </a:rPr>
              <a:t>MongoDB 7.0: </a:t>
            </a:r>
            <a:r>
              <a:rPr sz="1200" b="0">
                <a:solidFill>
                  <a:srgbClr val="1E293B"/>
                </a:solidFill>
                <a:latin typeface="Segoe UI" panose="020B0502040204020203"/>
              </a:rPr>
              <a:t>Document database with 8 collections &amp; </a:t>
            </a:r>
            <a:r>
              <a:rPr lang="en-US" sz="1200" b="0">
                <a:solidFill>
                  <a:srgbClr val="1E293B"/>
                </a:solidFill>
                <a:latin typeface="Segoe UI" panose="020B0502040204020203"/>
              </a:rPr>
              <a:t>     </a:t>
            </a:r>
            <a:r>
              <a:rPr sz="1200" b="0">
                <a:solidFill>
                  <a:srgbClr val="1E293B"/>
                </a:solidFill>
                <a:latin typeface="Segoe UI" panose="020B0502040204020203"/>
              </a:rPr>
              <a:t>aggregation pipelines</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Express.js 4.21: </a:t>
            </a:r>
            <a:r>
              <a:rPr lang="en-US" sz="1200" b="1">
                <a:solidFill>
                  <a:srgbClr val="0F172A"/>
                </a:solidFill>
                <a:latin typeface="Segoe UI" panose="020B0502040204020203"/>
              </a:rPr>
              <a:t>  </a:t>
            </a:r>
            <a:r>
              <a:rPr sz="1200" b="0">
                <a:solidFill>
                  <a:srgbClr val="1E293B"/>
                </a:solidFill>
                <a:latin typeface="Segoe UI" panose="020B0502040204020203"/>
              </a:rPr>
              <a:t>RESTful API framework with JWT role</a:t>
            </a:r>
            <a:r>
              <a:rPr lang="en-US" sz="1200" b="0">
                <a:solidFill>
                  <a:srgbClr val="1E293B"/>
                </a:solidFill>
                <a:latin typeface="Segoe UI" panose="020B0502040204020203"/>
              </a:rPr>
              <a:t>        b</a:t>
            </a:r>
            <a:r>
              <a:rPr sz="1200" b="0">
                <a:solidFill>
                  <a:srgbClr val="1E293B"/>
                </a:solidFill>
                <a:latin typeface="Segoe UI" panose="020B0502040204020203"/>
              </a:rPr>
              <a:t>ased security</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React 18 &amp; Vite: </a:t>
            </a:r>
            <a:r>
              <a:rPr sz="1200" b="0">
                <a:solidFill>
                  <a:srgbClr val="1E293B"/>
                </a:solidFill>
                <a:latin typeface="Segoe UI" panose="020B0502040204020203"/>
              </a:rPr>
              <a:t>Responsive SPA with modern component architecture</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Node.js 24 Runtime: </a:t>
            </a:r>
            <a:r>
              <a:rPr sz="1200" b="0">
                <a:solidFill>
                  <a:srgbClr val="1E293B"/>
                </a:solidFill>
                <a:latin typeface="Segoe UI" panose="020B0502040204020203"/>
              </a:rPr>
              <a:t>Asynchronous event-driven backend application server</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MongoDB Compass: </a:t>
            </a:r>
            <a:r>
              <a:rPr sz="1200" b="0">
                <a:solidFill>
                  <a:srgbClr val="1E293B"/>
                </a:solidFill>
                <a:latin typeface="Segoe UI" panose="020B0502040204020203"/>
              </a:rPr>
              <a:t>Visual database inspection, query profiling &amp; schema view</a:t>
            </a:r>
            <a:endParaRPr sz="1200" b="0">
              <a:solidFill>
                <a:srgbClr val="1E293B"/>
              </a:solidFill>
              <a:latin typeface="Segoe UI" panose="020B050204020402020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8961120" cy="594360"/>
          </a:xfrm>
          <a:prstGeom prst="rect">
            <a:avLst/>
          </a:prstGeom>
          <a:noFill/>
        </p:spPr>
        <p:txBody>
          <a:bodyPr wrap="square" lIns="0" tIns="0" rIns="0" bIns="0">
            <a:spAutoFit/>
          </a:bodyPr>
          <a:lstStyle/>
          <a:p>
            <a:pPr>
              <a:defRPr sz="2200" b="1">
                <a:solidFill>
                  <a:srgbClr val="0F172A"/>
                </a:solidFill>
                <a:latin typeface="Segoe UI" panose="020B0502040204020203"/>
              </a:defRPr>
            </a:pPr>
            <a:r>
              <a:t>1. Project Overview</a:t>
            </a:r>
          </a:p>
        </p:txBody>
      </p:sp>
      <p:sp>
        <p:nvSpPr>
          <p:cNvPr id="4" name="Rounded Rectangle 3"/>
          <p:cNvSpPr/>
          <p:nvPr/>
        </p:nvSpPr>
        <p:spPr>
          <a:xfrm>
            <a:off x="9692640" y="384048"/>
            <a:ext cx="1874519" cy="329184"/>
          </a:xfrm>
          <a:prstGeom prst="roundRect">
            <a:avLst/>
          </a:prstGeom>
          <a:solidFill>
            <a:srgbClr val="D1FAE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59669"/>
                </a:solidFill>
                <a:latin typeface="Segoe UI" panose="020B0502040204020203"/>
              </a:defRPr>
            </a:pPr>
            <a:r>
              <a:t>System Overview</a:t>
            </a:r>
          </a:p>
        </p:txBody>
      </p:sp>
      <p:sp>
        <p:nvSpPr>
          <p:cNvPr id="5" name="Rounded Rectangle 4"/>
          <p:cNvSpPr/>
          <p:nvPr/>
        </p:nvSpPr>
        <p:spPr>
          <a:xfrm>
            <a:off x="594360" y="906780"/>
            <a:ext cx="5303520" cy="18161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018540"/>
            <a:ext cx="4937760" cy="1670050"/>
          </a:xfrm>
          <a:prstGeom prst="rect">
            <a:avLst/>
          </a:prstGeom>
          <a:noFill/>
        </p:spPr>
        <p:txBody>
          <a:bodyPr wrap="square">
            <a:spAutoFit/>
          </a:bodyPr>
          <a:lstStyle/>
          <a:p>
            <a:pPr>
              <a:spcAft>
                <a:spcPts val="400"/>
              </a:spcAft>
              <a:defRPr sz="1300" b="1">
                <a:solidFill>
                  <a:srgbClr val="0F172A"/>
                </a:solidFill>
              </a:defRPr>
            </a:pPr>
            <a:r>
              <a:rPr sz="1400"/>
              <a:t>Purpose &amp; Core Capability</a:t>
            </a:r>
            <a:endParaRPr sz="1400"/>
          </a:p>
          <a:p>
            <a:pPr>
              <a:lnSpc>
                <a:spcPct val="115000"/>
              </a:lnSpc>
              <a:spcAft>
                <a:spcPts val="300"/>
              </a:spcAft>
            </a:pPr>
            <a:r>
              <a:rPr sz="1200" b="1">
                <a:solidFill>
                  <a:srgbClr val="10B981"/>
                </a:solidFill>
              </a:rPr>
              <a:t>• </a:t>
            </a:r>
            <a:r>
              <a:rPr sz="1200" b="1">
                <a:solidFill>
                  <a:srgbClr val="0F172A"/>
                </a:solidFill>
                <a:latin typeface="Segoe UI" panose="020B0502040204020203"/>
              </a:rPr>
              <a:t>Centralized Management: </a:t>
            </a:r>
            <a:r>
              <a:rPr sz="1200" b="0">
                <a:solidFill>
                  <a:srgbClr val="1E293B"/>
                </a:solidFill>
                <a:latin typeface="Segoe UI" panose="020B0502040204020203"/>
              </a:rPr>
              <a:t>Full-stack web application digitizing member registration, trainer records, membership plans, and attendance.</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Document-Oriented: </a:t>
            </a:r>
            <a:r>
              <a:rPr sz="1200" b="0">
                <a:solidFill>
                  <a:srgbClr val="1E293B"/>
                </a:solidFill>
                <a:latin typeface="Segoe UI" panose="020B0502040204020203"/>
              </a:rPr>
              <a:t>Leverages MongoDB BSON storage to handle dynamic memberships, nested exercises, and activity histories efficiently.</a:t>
            </a:r>
            <a:endParaRPr sz="1200" b="0">
              <a:solidFill>
                <a:srgbClr val="1E293B"/>
              </a:solidFill>
              <a:latin typeface="Segoe UI" panose="020B0502040204020203"/>
            </a:endParaRPr>
          </a:p>
        </p:txBody>
      </p:sp>
      <p:sp>
        <p:nvSpPr>
          <p:cNvPr id="7" name="Rounded Rectangle 6"/>
          <p:cNvSpPr/>
          <p:nvPr/>
        </p:nvSpPr>
        <p:spPr>
          <a:xfrm>
            <a:off x="594360" y="2849880"/>
            <a:ext cx="5303520" cy="173863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079750"/>
            <a:ext cx="4937760" cy="1245235"/>
          </a:xfrm>
          <a:prstGeom prst="rect">
            <a:avLst/>
          </a:prstGeom>
          <a:noFill/>
        </p:spPr>
        <p:txBody>
          <a:bodyPr wrap="square">
            <a:spAutoFit/>
          </a:bodyPr>
          <a:lstStyle/>
          <a:p>
            <a:pPr>
              <a:spcAft>
                <a:spcPts val="400"/>
              </a:spcAft>
              <a:defRPr sz="1300" b="1">
                <a:solidFill>
                  <a:srgbClr val="0F172A"/>
                </a:solidFill>
              </a:defRPr>
            </a:pPr>
            <a:r>
              <a:rPr sz="1400"/>
              <a:t>Target Users &amp; Role Segregation</a:t>
            </a:r>
            <a:endParaRPr sz="1400"/>
          </a:p>
          <a:p>
            <a:pPr>
              <a:lnSpc>
                <a:spcPct val="115000"/>
              </a:lnSpc>
              <a:spcAft>
                <a:spcPts val="300"/>
              </a:spcAft>
            </a:pPr>
            <a:r>
              <a:rPr sz="1200" b="1">
                <a:solidFill>
                  <a:srgbClr val="10B981"/>
                </a:solidFill>
              </a:rPr>
              <a:t>• </a:t>
            </a:r>
            <a:r>
              <a:rPr sz="1200" b="1">
                <a:solidFill>
                  <a:srgbClr val="0F172A"/>
                </a:solidFill>
                <a:latin typeface="Segoe UI" panose="020B0502040204020203"/>
              </a:rPr>
              <a:t>Gym Super Admin: </a:t>
            </a:r>
            <a:r>
              <a:rPr sz="1200" b="0">
                <a:solidFill>
                  <a:srgbClr val="1E293B"/>
                </a:solidFill>
                <a:latin typeface="Segoe UI" panose="020B0502040204020203"/>
              </a:rPr>
              <a:t>Executive portal to manage trainers, approve plan requests, track revenue, and monitor daily gym traffic.</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Gym Member: </a:t>
            </a:r>
            <a:r>
              <a:rPr sz="1200" b="0">
                <a:solidFill>
                  <a:srgbClr val="1E293B"/>
                </a:solidFill>
                <a:latin typeface="Segoe UI" panose="020B0502040204020203"/>
              </a:rPr>
              <a:t>Self-service portal to view subscription validity, browse available packages, review workouts, and update profile.</a:t>
            </a:r>
            <a:endParaRPr sz="1200" b="0">
              <a:solidFill>
                <a:srgbClr val="1E293B"/>
              </a:solidFill>
              <a:latin typeface="Segoe UI" panose="020B0502040204020203"/>
            </a:endParaRPr>
          </a:p>
        </p:txBody>
      </p:sp>
      <p:sp>
        <p:nvSpPr>
          <p:cNvPr id="9" name="Rounded Rectangle 8"/>
          <p:cNvSpPr/>
          <p:nvPr/>
        </p:nvSpPr>
        <p:spPr>
          <a:xfrm>
            <a:off x="594360" y="4716145"/>
            <a:ext cx="5303520" cy="192087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016500"/>
            <a:ext cx="4937760" cy="1457325"/>
          </a:xfrm>
          <a:prstGeom prst="rect">
            <a:avLst/>
          </a:prstGeom>
          <a:noFill/>
        </p:spPr>
        <p:txBody>
          <a:bodyPr wrap="square">
            <a:spAutoFit/>
          </a:bodyPr>
          <a:lstStyle/>
          <a:p>
            <a:pPr>
              <a:spcAft>
                <a:spcPts val="400"/>
              </a:spcAft>
              <a:defRPr sz="1300" b="1">
                <a:solidFill>
                  <a:srgbClr val="0F172A"/>
                </a:solidFill>
              </a:defRPr>
            </a:pPr>
            <a:r>
              <a:rPr sz="1400"/>
              <a:t>Project Scope &amp; Operational Boundaries</a:t>
            </a:r>
            <a:endParaRPr sz="1400"/>
          </a:p>
          <a:p>
            <a:pPr>
              <a:lnSpc>
                <a:spcPct val="115000"/>
              </a:lnSpc>
              <a:spcAft>
                <a:spcPts val="300"/>
              </a:spcAft>
            </a:pPr>
            <a:r>
              <a:rPr sz="1200" b="1">
                <a:solidFill>
                  <a:srgbClr val="10B981"/>
                </a:solidFill>
              </a:rPr>
              <a:t>• </a:t>
            </a:r>
            <a:r>
              <a:rPr sz="1200" b="1">
                <a:solidFill>
                  <a:srgbClr val="0F172A"/>
                </a:solidFill>
                <a:latin typeface="Segoe UI" panose="020B0502040204020203"/>
              </a:rPr>
              <a:t>Included in Scope: </a:t>
            </a:r>
            <a:r>
              <a:rPr sz="1200" b="0">
                <a:solidFill>
                  <a:srgbClr val="1E293B"/>
                </a:solidFill>
                <a:latin typeface="Segoe UI" panose="020B0502040204020203"/>
              </a:rPr>
              <a:t>Complete MERN architecture, JWT security, real-time Socket.IO alerts, automated cron expiry audits, and AI assistant.</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System Boundaries: </a:t>
            </a:r>
            <a:r>
              <a:rPr sz="1200" b="0">
                <a:solidFill>
                  <a:srgbClr val="1E293B"/>
                </a:solidFill>
                <a:latin typeface="Segoe UI" panose="020B0502040204020203"/>
              </a:rPr>
              <a:t>Focuses on software operations; physical turnstile hardware and automated payment gateway webhooks are planned future extensions.</a:t>
            </a:r>
            <a:endParaRPr sz="1200" b="0">
              <a:solidFill>
                <a:srgbClr val="1E293B"/>
              </a:solidFill>
              <a:latin typeface="Segoe UI" panose="020B0502040204020203"/>
            </a:endParaRPr>
          </a:p>
        </p:txBody>
      </p:sp>
      <p:sp>
        <p:nvSpPr>
          <p:cNvPr id="11" name="Rounded Rectangle 10"/>
          <p:cNvSpPr/>
          <p:nvPr/>
        </p:nvSpPr>
        <p:spPr>
          <a:xfrm>
            <a:off x="6080760" y="913765"/>
            <a:ext cx="5850890" cy="572325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creenshot (427).png"/>
          <p:cNvPicPr>
            <a:picLocks noChangeAspect="1"/>
          </p:cNvPicPr>
          <p:nvPr/>
        </p:nvPicPr>
        <p:blipFill>
          <a:blip r:embed="rId1"/>
          <a:stretch>
            <a:fillRect/>
          </a:stretch>
        </p:blipFill>
        <p:spPr>
          <a:xfrm>
            <a:off x="6450965" y="1307465"/>
            <a:ext cx="5116195" cy="2790825"/>
          </a:xfrm>
          <a:prstGeom prst="rect">
            <a:avLst/>
          </a:prstGeom>
        </p:spPr>
      </p:pic>
      <p:sp>
        <p:nvSpPr>
          <p:cNvPr id="13" name="TextBox 12"/>
          <p:cNvSpPr txBox="1"/>
          <p:nvPr/>
        </p:nvSpPr>
        <p:spPr>
          <a:xfrm>
            <a:off x="6217920" y="4297680"/>
            <a:ext cx="5257800" cy="1708150"/>
          </a:xfrm>
          <a:prstGeom prst="rect">
            <a:avLst/>
          </a:prstGeom>
          <a:noFill/>
        </p:spPr>
        <p:txBody>
          <a:bodyPr wrap="square">
            <a:spAutoFit/>
          </a:bodyPr>
          <a:lstStyle/>
          <a:p>
            <a:pPr>
              <a:spcAft>
                <a:spcPts val="400"/>
              </a:spcAft>
              <a:defRPr sz="1200" b="1">
                <a:solidFill>
                  <a:srgbClr val="0F172A"/>
                </a:solidFill>
              </a:defRPr>
            </a:pPr>
            <a:r>
              <a:rPr sz="1400"/>
              <a:t>Live Operational Interface (Admin Dashboard):</a:t>
            </a:r>
            <a:endParaRPr sz="1400"/>
          </a:p>
          <a:p>
            <a:pPr>
              <a:lnSpc>
                <a:spcPct val="115000"/>
              </a:lnSpc>
              <a:spcAft>
                <a:spcPts val="300"/>
              </a:spcAft>
            </a:pPr>
            <a:r>
              <a:rPr sz="1200" b="1">
                <a:solidFill>
                  <a:srgbClr val="10B981"/>
                </a:solidFill>
              </a:rPr>
              <a:t>• </a:t>
            </a:r>
            <a:r>
              <a:rPr sz="1200" b="1">
                <a:solidFill>
                  <a:srgbClr val="0F172A"/>
                </a:solidFill>
                <a:latin typeface="Segoe UI" panose="020B0502040204020203"/>
              </a:rPr>
              <a:t>8 KPI Metric Cards: </a:t>
            </a:r>
            <a:r>
              <a:rPr sz="1200" b="0">
                <a:solidFill>
                  <a:srgbClr val="1E293B"/>
                </a:solidFill>
                <a:latin typeface="Segoe UI" panose="020B0502040204020203"/>
              </a:rPr>
              <a:t>Instant metrics for members, trainers, revenue, active subscriptions, and pending requests.</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MongoDB Aggregations: </a:t>
            </a:r>
            <a:r>
              <a:rPr sz="1200" b="0">
                <a:solidFill>
                  <a:srgbClr val="1E293B"/>
                </a:solidFill>
                <a:latin typeface="Segoe UI" panose="020B0502040204020203"/>
              </a:rPr>
              <a:t>Visual charts computed via backend MongoDB pipelines for monthly revenue and attendance.</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Real-Time Notification Bell: </a:t>
            </a:r>
            <a:r>
              <a:rPr sz="1200" b="0">
                <a:solidFill>
                  <a:srgbClr val="1E293B"/>
                </a:solidFill>
                <a:latin typeface="Segoe UI" panose="020B0502040204020203"/>
              </a:rPr>
              <a:t>Instant socket alerts displayed directly in the header navigation.</a:t>
            </a:r>
            <a:endParaRPr sz="1200" b="0">
              <a:solidFill>
                <a:srgbClr val="1E293B"/>
              </a:solidFill>
              <a:latin typeface="Segoe UI" panose="020B05020402040202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8961120" cy="594360"/>
          </a:xfrm>
          <a:prstGeom prst="rect">
            <a:avLst/>
          </a:prstGeom>
          <a:noFill/>
        </p:spPr>
        <p:txBody>
          <a:bodyPr wrap="square" lIns="0" tIns="0" rIns="0" bIns="0">
            <a:spAutoFit/>
          </a:bodyPr>
          <a:lstStyle/>
          <a:p>
            <a:pPr>
              <a:defRPr sz="2200" b="1">
                <a:solidFill>
                  <a:srgbClr val="0F172A"/>
                </a:solidFill>
                <a:latin typeface="Segoe UI" panose="020B0502040204020203"/>
              </a:defRPr>
            </a:pPr>
            <a:r>
              <a:t>2. Problem Statement and Objectives</a:t>
            </a:r>
          </a:p>
        </p:txBody>
      </p:sp>
      <p:sp>
        <p:nvSpPr>
          <p:cNvPr id="4" name="Rounded Rectangle 3"/>
          <p:cNvSpPr/>
          <p:nvPr/>
        </p:nvSpPr>
        <p:spPr>
          <a:xfrm>
            <a:off x="9692640" y="384048"/>
            <a:ext cx="1874519" cy="329184"/>
          </a:xfrm>
          <a:prstGeom prst="roundRect">
            <a:avLst/>
          </a:prstGeom>
          <a:solidFill>
            <a:srgbClr val="D1FAE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59669"/>
                </a:solidFill>
                <a:latin typeface="Segoe UI" panose="020B0502040204020203"/>
              </a:defRPr>
            </a:pPr>
            <a:r>
              <a:t>Problem &amp; Goals</a:t>
            </a:r>
          </a:p>
        </p:txBody>
      </p:sp>
      <p:sp>
        <p:nvSpPr>
          <p:cNvPr id="5" name="Rounded Rectangle 4"/>
          <p:cNvSpPr/>
          <p:nvPr/>
        </p:nvSpPr>
        <p:spPr>
          <a:xfrm>
            <a:off x="594360" y="1051560"/>
            <a:ext cx="5349240" cy="4069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188720"/>
            <a:ext cx="4892040" cy="3667760"/>
          </a:xfrm>
          <a:prstGeom prst="rect">
            <a:avLst/>
          </a:prstGeom>
          <a:noFill/>
        </p:spPr>
        <p:txBody>
          <a:bodyPr wrap="square">
            <a:spAutoFit/>
          </a:bodyPr>
          <a:lstStyle/>
          <a:p>
            <a:pPr>
              <a:spcAft>
                <a:spcPts val="800"/>
              </a:spcAft>
              <a:defRPr sz="1400" b="1">
                <a:solidFill>
                  <a:srgbClr val="EF4444"/>
                </a:solidFill>
              </a:defRPr>
            </a:pPr>
            <a:r>
              <a:rPr lang="en-US" sz="1600"/>
              <a:t>            </a:t>
            </a:r>
            <a:r>
              <a:rPr sz="1600"/>
              <a:t>Operational Challenges in Manual Gyms</a:t>
            </a:r>
            <a:endParaRPr sz="1600"/>
          </a:p>
          <a:p>
            <a:pPr>
              <a:lnSpc>
                <a:spcPct val="115000"/>
              </a:lnSpc>
              <a:spcAft>
                <a:spcPts val="500"/>
              </a:spcAft>
            </a:pPr>
            <a:r>
              <a:rPr sz="1200" b="1">
                <a:solidFill>
                  <a:srgbClr val="10B981"/>
                </a:solidFill>
              </a:rPr>
              <a:t>• </a:t>
            </a:r>
            <a:r>
              <a:rPr sz="1200" b="1">
                <a:solidFill>
                  <a:srgbClr val="0F172A"/>
                </a:solidFill>
                <a:latin typeface="Segoe UI" panose="020B0502040204020203"/>
              </a:rPr>
              <a:t>Fragmented Record Keeping: </a:t>
            </a:r>
            <a:r>
              <a:rPr sz="1200" b="0">
                <a:solidFill>
                  <a:srgbClr val="1E293B"/>
                </a:solidFill>
                <a:latin typeface="Segoe UI" panose="020B0502040204020203"/>
              </a:rPr>
              <a:t>Gyms rely on paper logbooks or scattered spreadsheets, causing missing records, duplicate phone numbers, and lost contact info.</a:t>
            </a:r>
            <a:endParaRPr sz="1200" b="0">
              <a:solidFill>
                <a:srgbClr val="1E293B"/>
              </a:solidFill>
              <a:latin typeface="Segoe UI" panose="020B0502040204020203"/>
            </a:endParaRPr>
          </a:p>
          <a:p>
            <a:pPr>
              <a:lnSpc>
                <a:spcPct val="115000"/>
              </a:lnSpc>
              <a:spcAft>
                <a:spcPts val="500"/>
              </a:spcAft>
            </a:pPr>
            <a:r>
              <a:rPr sz="1200" b="1">
                <a:solidFill>
                  <a:srgbClr val="10B981"/>
                </a:solidFill>
              </a:rPr>
              <a:t>• </a:t>
            </a:r>
            <a:r>
              <a:rPr sz="1200" b="1">
                <a:solidFill>
                  <a:srgbClr val="0F172A"/>
                </a:solidFill>
                <a:latin typeface="Segoe UI" panose="020B0502040204020203"/>
              </a:rPr>
              <a:t>Membership Expiry Leakage: </a:t>
            </a:r>
            <a:r>
              <a:rPr sz="1200" b="0">
                <a:solidFill>
                  <a:srgbClr val="1E293B"/>
                </a:solidFill>
                <a:latin typeface="Segoe UI" panose="020B0502040204020203"/>
              </a:rPr>
              <a:t>Without automated tracking, gym staff miss subscription expirations, allowing members to access facilities unpaid.</a:t>
            </a:r>
            <a:endParaRPr sz="1200" b="0">
              <a:solidFill>
                <a:srgbClr val="1E293B"/>
              </a:solidFill>
              <a:latin typeface="Segoe UI" panose="020B0502040204020203"/>
            </a:endParaRPr>
          </a:p>
          <a:p>
            <a:pPr>
              <a:lnSpc>
                <a:spcPct val="115000"/>
              </a:lnSpc>
              <a:spcAft>
                <a:spcPts val="500"/>
              </a:spcAft>
            </a:pPr>
            <a:r>
              <a:rPr sz="1200" b="1">
                <a:solidFill>
                  <a:srgbClr val="10B981"/>
                </a:solidFill>
              </a:rPr>
              <a:t>• </a:t>
            </a:r>
            <a:r>
              <a:rPr sz="1200" b="1">
                <a:solidFill>
                  <a:srgbClr val="0F172A"/>
                </a:solidFill>
                <a:latin typeface="Segoe UI" panose="020B0502040204020203"/>
              </a:rPr>
              <a:t>No Member Self-Service: </a:t>
            </a:r>
            <a:r>
              <a:rPr sz="1200" b="0">
                <a:solidFill>
                  <a:srgbClr val="1E293B"/>
                </a:solidFill>
                <a:latin typeface="Segoe UI" panose="020B0502040204020203"/>
              </a:rPr>
              <a:t>Members cannot easily view plan details, track attendance history, or request renewals without visiting front-desk staff.</a:t>
            </a:r>
            <a:endParaRPr sz="1200" b="0">
              <a:solidFill>
                <a:srgbClr val="1E293B"/>
              </a:solidFill>
              <a:latin typeface="Segoe UI" panose="020B0502040204020203"/>
            </a:endParaRPr>
          </a:p>
          <a:p>
            <a:pPr>
              <a:lnSpc>
                <a:spcPct val="115000"/>
              </a:lnSpc>
              <a:spcAft>
                <a:spcPts val="500"/>
              </a:spcAft>
            </a:pPr>
            <a:r>
              <a:rPr sz="1200" b="1">
                <a:solidFill>
                  <a:srgbClr val="10B981"/>
                </a:solidFill>
              </a:rPr>
              <a:t>• </a:t>
            </a:r>
            <a:r>
              <a:rPr sz="1200" b="1">
                <a:solidFill>
                  <a:srgbClr val="0F172A"/>
                </a:solidFill>
                <a:latin typeface="Segoe UI" panose="020B0502040204020203"/>
              </a:rPr>
              <a:t>Attendance Bottlenecks: </a:t>
            </a:r>
            <a:r>
              <a:rPr sz="1200" b="0">
                <a:solidFill>
                  <a:srgbClr val="1E293B"/>
                </a:solidFill>
                <a:latin typeface="Segoe UI" panose="020B0502040204020203"/>
              </a:rPr>
              <a:t>Manual attendance registers suffer from proxy entries, handwriting ambiguities, and lack of historical reporting.</a:t>
            </a:r>
            <a:endParaRPr sz="1200" b="0">
              <a:solidFill>
                <a:srgbClr val="1E293B"/>
              </a:solidFill>
              <a:latin typeface="Segoe UI" panose="020B0502040204020203"/>
            </a:endParaRPr>
          </a:p>
          <a:p>
            <a:pPr>
              <a:lnSpc>
                <a:spcPct val="115000"/>
              </a:lnSpc>
              <a:spcAft>
                <a:spcPts val="500"/>
              </a:spcAft>
            </a:pPr>
            <a:r>
              <a:rPr sz="1200" b="1">
                <a:solidFill>
                  <a:srgbClr val="10B981"/>
                </a:solidFill>
              </a:rPr>
              <a:t>• </a:t>
            </a:r>
            <a:r>
              <a:rPr sz="1200" b="1">
                <a:solidFill>
                  <a:srgbClr val="0F172A"/>
                </a:solidFill>
                <a:latin typeface="Segoe UI" panose="020B0502040204020203"/>
              </a:rPr>
              <a:t>Disjointed Operations: </a:t>
            </a:r>
            <a:r>
              <a:rPr sz="1200" b="0">
                <a:solidFill>
                  <a:srgbClr val="1E293B"/>
                </a:solidFill>
                <a:latin typeface="Segoe UI" panose="020B0502040204020203"/>
              </a:rPr>
              <a:t>Trainers, workout schedules, payment records, and member profiles exist in isolated silos with zero real-time sync.</a:t>
            </a:r>
            <a:endParaRPr sz="1200" b="0">
              <a:solidFill>
                <a:srgbClr val="1E293B"/>
              </a:solidFill>
              <a:latin typeface="Segoe UI" panose="020B0502040204020203"/>
            </a:endParaRPr>
          </a:p>
        </p:txBody>
      </p:sp>
      <p:sp>
        <p:nvSpPr>
          <p:cNvPr id="7" name="Rounded Rectangle 6"/>
          <p:cNvSpPr/>
          <p:nvPr/>
        </p:nvSpPr>
        <p:spPr>
          <a:xfrm>
            <a:off x="6217920" y="1051560"/>
            <a:ext cx="5394960" cy="4069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14160" y="1188720"/>
            <a:ext cx="4770120" cy="3879850"/>
          </a:xfrm>
          <a:prstGeom prst="rect">
            <a:avLst/>
          </a:prstGeom>
          <a:noFill/>
        </p:spPr>
        <p:txBody>
          <a:bodyPr wrap="square">
            <a:spAutoFit/>
          </a:bodyPr>
          <a:lstStyle/>
          <a:p>
            <a:pPr>
              <a:spcAft>
                <a:spcPts val="800"/>
              </a:spcAft>
              <a:defRPr sz="1400" b="1">
                <a:solidFill>
                  <a:srgbClr val="059669"/>
                </a:solidFill>
              </a:defRPr>
            </a:pPr>
            <a:r>
              <a:rPr lang="en-US" sz="1600"/>
              <a:t>                        </a:t>
            </a:r>
            <a:r>
              <a:rPr sz="1600"/>
              <a:t>Verified Project Objectives</a:t>
            </a:r>
            <a:endParaRPr sz="1600"/>
          </a:p>
          <a:p>
            <a:pPr>
              <a:lnSpc>
                <a:spcPct val="115000"/>
              </a:lnSpc>
              <a:spcAft>
                <a:spcPts val="500"/>
              </a:spcAft>
            </a:pPr>
            <a:r>
              <a:rPr sz="1200" b="1">
                <a:solidFill>
                  <a:srgbClr val="10B981"/>
                </a:solidFill>
              </a:rPr>
              <a:t>• </a:t>
            </a:r>
            <a:r>
              <a:rPr sz="1200" b="1">
                <a:solidFill>
                  <a:srgbClr val="0F172A"/>
                </a:solidFill>
                <a:latin typeface="Segoe UI" panose="020B0502040204020203"/>
              </a:rPr>
              <a:t>1. Centralized MongoDB Data Store: </a:t>
            </a:r>
            <a:r>
              <a:rPr sz="1200" b="0">
                <a:solidFill>
                  <a:srgbClr val="1E293B"/>
                </a:solidFill>
                <a:latin typeface="Segoe UI" panose="020B0502040204020203"/>
              </a:rPr>
              <a:t>Design a normalized and validated schema architecture across 8 collections with strict BSON typing.</a:t>
            </a:r>
            <a:endParaRPr sz="1200" b="0">
              <a:solidFill>
                <a:srgbClr val="1E293B"/>
              </a:solidFill>
              <a:latin typeface="Segoe UI" panose="020B0502040204020203"/>
            </a:endParaRPr>
          </a:p>
          <a:p>
            <a:pPr>
              <a:lnSpc>
                <a:spcPct val="115000"/>
              </a:lnSpc>
              <a:spcAft>
                <a:spcPts val="500"/>
              </a:spcAft>
            </a:pPr>
            <a:r>
              <a:rPr sz="1200" b="1">
                <a:solidFill>
                  <a:srgbClr val="10B981"/>
                </a:solidFill>
              </a:rPr>
              <a:t>• </a:t>
            </a:r>
            <a:r>
              <a:rPr sz="1200" b="1">
                <a:solidFill>
                  <a:srgbClr val="0F172A"/>
                </a:solidFill>
                <a:latin typeface="Segoe UI" panose="020B0502040204020203"/>
              </a:rPr>
              <a:t>2. Role-Based Dual Portals: </a:t>
            </a:r>
            <a:r>
              <a:rPr sz="1200" b="0">
                <a:solidFill>
                  <a:srgbClr val="1E293B"/>
                </a:solidFill>
                <a:latin typeface="Segoe UI" panose="020B0502040204020203"/>
              </a:rPr>
              <a:t>Implement secure JWT-based access control separating administrative functions from member self-service.</a:t>
            </a:r>
            <a:endParaRPr sz="1200" b="0">
              <a:solidFill>
                <a:srgbClr val="1E293B"/>
              </a:solidFill>
              <a:latin typeface="Segoe UI" panose="020B0502040204020203"/>
            </a:endParaRPr>
          </a:p>
          <a:p>
            <a:pPr>
              <a:lnSpc>
                <a:spcPct val="115000"/>
              </a:lnSpc>
              <a:spcAft>
                <a:spcPts val="500"/>
              </a:spcAft>
            </a:pPr>
            <a:r>
              <a:rPr sz="1200" b="1">
                <a:solidFill>
                  <a:srgbClr val="10B981"/>
                </a:solidFill>
              </a:rPr>
              <a:t>• </a:t>
            </a:r>
            <a:r>
              <a:rPr sz="1200" b="1">
                <a:solidFill>
                  <a:srgbClr val="0F172A"/>
                </a:solidFill>
                <a:latin typeface="Segoe UI" panose="020B0502040204020203"/>
              </a:rPr>
              <a:t>3. Subscription Lifecycle &amp; Expiry Alerts: </a:t>
            </a:r>
            <a:r>
              <a:rPr sz="1200" b="0">
                <a:solidFill>
                  <a:srgbClr val="1E293B"/>
                </a:solidFill>
                <a:latin typeface="Segoe UI" panose="020B0502040204020203"/>
              </a:rPr>
              <a:t>Automate plan requests, approval workflows, and scheduled 7-day/3-day expiry reminders.</a:t>
            </a:r>
            <a:endParaRPr sz="1200" b="0">
              <a:solidFill>
                <a:srgbClr val="1E293B"/>
              </a:solidFill>
              <a:latin typeface="Segoe UI" panose="020B0502040204020203"/>
            </a:endParaRPr>
          </a:p>
          <a:p>
            <a:pPr>
              <a:lnSpc>
                <a:spcPct val="115000"/>
              </a:lnSpc>
              <a:spcAft>
                <a:spcPts val="500"/>
              </a:spcAft>
            </a:pPr>
            <a:r>
              <a:rPr sz="1200" b="1">
                <a:solidFill>
                  <a:srgbClr val="10B981"/>
                </a:solidFill>
              </a:rPr>
              <a:t>• </a:t>
            </a:r>
            <a:r>
              <a:rPr sz="1200" b="1">
                <a:solidFill>
                  <a:srgbClr val="0F172A"/>
                </a:solidFill>
                <a:latin typeface="Segoe UI" panose="020B0502040204020203"/>
              </a:rPr>
              <a:t>4. Zero-Duplicate Attendance System: </a:t>
            </a:r>
            <a:r>
              <a:rPr sz="1200" b="0">
                <a:solidFill>
                  <a:srgbClr val="1E293B"/>
                </a:solidFill>
                <a:latin typeface="Segoe UI" panose="020B0502040204020203"/>
              </a:rPr>
              <a:t>Enforce atomic attendance tracking backed by compound unique indexing on memberId and date.</a:t>
            </a:r>
            <a:endParaRPr sz="1200" b="0">
              <a:solidFill>
                <a:srgbClr val="1E293B"/>
              </a:solidFill>
              <a:latin typeface="Segoe UI" panose="020B0502040204020203"/>
            </a:endParaRPr>
          </a:p>
          <a:p>
            <a:pPr>
              <a:lnSpc>
                <a:spcPct val="115000"/>
              </a:lnSpc>
              <a:spcAft>
                <a:spcPts val="500"/>
              </a:spcAft>
            </a:pPr>
            <a:r>
              <a:rPr sz="1200" b="1">
                <a:solidFill>
                  <a:srgbClr val="10B981"/>
                </a:solidFill>
              </a:rPr>
              <a:t>• </a:t>
            </a:r>
            <a:r>
              <a:rPr sz="1200" b="1">
                <a:solidFill>
                  <a:srgbClr val="0F172A"/>
                </a:solidFill>
                <a:latin typeface="Segoe UI" panose="020B0502040204020203"/>
              </a:rPr>
              <a:t>5. Real-Time Admin Notification Engine: </a:t>
            </a:r>
            <a:r>
              <a:rPr sz="1200" b="0">
                <a:solidFill>
                  <a:srgbClr val="1E293B"/>
                </a:solidFill>
                <a:latin typeface="Segoe UI" panose="020B0502040204020203"/>
              </a:rPr>
              <a:t>Engineer an event-driven Socket.IO notification system alerting admins to registrations and requests.</a:t>
            </a:r>
            <a:endParaRPr sz="1200" b="0">
              <a:solidFill>
                <a:srgbClr val="1E293B"/>
              </a:solidFill>
              <a:latin typeface="Segoe UI" panose="020B0502040204020203"/>
            </a:endParaRPr>
          </a:p>
        </p:txBody>
      </p:sp>
      <p:sp>
        <p:nvSpPr>
          <p:cNvPr id="9" name="Rounded Rectangle 8"/>
          <p:cNvSpPr/>
          <p:nvPr/>
        </p:nvSpPr>
        <p:spPr>
          <a:xfrm>
            <a:off x="594360" y="5459095"/>
            <a:ext cx="11018520" cy="121285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70982"/>
            <a:ext cx="10652760" cy="989330"/>
          </a:xfrm>
          <a:prstGeom prst="rect">
            <a:avLst/>
          </a:prstGeom>
          <a:noFill/>
        </p:spPr>
        <p:txBody>
          <a:bodyPr wrap="square">
            <a:spAutoFit/>
          </a:bodyPr>
          <a:lstStyle/>
          <a:p>
            <a:pPr>
              <a:spcAft>
                <a:spcPts val="200"/>
              </a:spcAft>
              <a:defRPr sz="1150" b="1">
                <a:solidFill>
                  <a:srgbClr val="0F172A"/>
                </a:solidFill>
              </a:defRPr>
            </a:pPr>
            <a:r>
              <a:rPr sz="1200"/>
              <a:t>How Success is Measured in FitPro:</a:t>
            </a:r>
            <a:endParaRPr sz="1200"/>
          </a:p>
          <a:p>
            <a:pPr>
              <a:lnSpc>
                <a:spcPct val="115000"/>
              </a:lnSpc>
              <a:spcAft>
                <a:spcPts val="200"/>
              </a:spcAft>
            </a:pPr>
            <a:r>
              <a:rPr sz="1200" b="1">
                <a:solidFill>
                  <a:srgbClr val="10B981"/>
                </a:solidFill>
              </a:rPr>
              <a:t>• </a:t>
            </a:r>
            <a:r>
              <a:rPr sz="1200" b="1">
                <a:solidFill>
                  <a:srgbClr val="0F172A"/>
                </a:solidFill>
                <a:latin typeface="Segoe UI" panose="020B0502040204020203"/>
              </a:rPr>
              <a:t>Data Persistence: </a:t>
            </a:r>
            <a:r>
              <a:rPr sz="1200" b="0">
                <a:solidFill>
                  <a:srgbClr val="1E293B"/>
                </a:solidFill>
                <a:latin typeface="Segoe UI" panose="020B0502040204020203"/>
              </a:rPr>
              <a:t>100% database persistence across server restarts and client reloads via MongoDB.</a:t>
            </a:r>
            <a:endParaRPr sz="1200" b="0">
              <a:solidFill>
                <a:srgbClr val="1E293B"/>
              </a:solidFill>
              <a:latin typeface="Segoe UI" panose="020B0502040204020203"/>
            </a:endParaRPr>
          </a:p>
          <a:p>
            <a:pPr>
              <a:lnSpc>
                <a:spcPct val="115000"/>
              </a:lnSpc>
              <a:spcAft>
                <a:spcPts val="200"/>
              </a:spcAft>
            </a:pPr>
            <a:r>
              <a:rPr sz="1200" b="1">
                <a:solidFill>
                  <a:srgbClr val="10B981"/>
                </a:solidFill>
              </a:rPr>
              <a:t>• </a:t>
            </a:r>
            <a:r>
              <a:rPr sz="1200" b="1">
                <a:solidFill>
                  <a:srgbClr val="0F172A"/>
                </a:solidFill>
                <a:latin typeface="Segoe UI" panose="020B0502040204020203"/>
              </a:rPr>
              <a:t>Data Integrity: </a:t>
            </a:r>
            <a:r>
              <a:rPr sz="1200" b="0">
                <a:solidFill>
                  <a:srgbClr val="1E293B"/>
                </a:solidFill>
                <a:latin typeface="Segoe UI" panose="020B0502040204020203"/>
              </a:rPr>
              <a:t>Zero duplicate check-ins per day enforced by compound unique database indexes.</a:t>
            </a:r>
            <a:endParaRPr sz="1200" b="0">
              <a:solidFill>
                <a:srgbClr val="1E293B"/>
              </a:solidFill>
              <a:latin typeface="Segoe UI" panose="020B0502040204020203"/>
            </a:endParaRPr>
          </a:p>
          <a:p>
            <a:pPr>
              <a:lnSpc>
                <a:spcPct val="115000"/>
              </a:lnSpc>
              <a:spcAft>
                <a:spcPts val="200"/>
              </a:spcAft>
            </a:pPr>
            <a:r>
              <a:rPr sz="1200" b="1">
                <a:solidFill>
                  <a:srgbClr val="10B981"/>
                </a:solidFill>
              </a:rPr>
              <a:t>• </a:t>
            </a:r>
            <a:r>
              <a:rPr sz="1200" b="1">
                <a:solidFill>
                  <a:srgbClr val="0F172A"/>
                </a:solidFill>
                <a:latin typeface="Segoe UI" panose="020B0502040204020203"/>
              </a:rPr>
              <a:t>Execution Performance: </a:t>
            </a:r>
            <a:r>
              <a:rPr sz="1200" b="0">
                <a:solidFill>
                  <a:srgbClr val="1E293B"/>
                </a:solidFill>
                <a:latin typeface="Segoe UI" panose="020B0502040204020203"/>
              </a:rPr>
              <a:t>Sub-second response times for search and aggregation queries across all collections.</a:t>
            </a:r>
            <a:endParaRPr sz="1200" b="0">
              <a:solidFill>
                <a:srgbClr val="1E293B"/>
              </a:solidFill>
              <a:latin typeface="Segoe UI" panose="020B050204020402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8961120" cy="594360"/>
          </a:xfrm>
          <a:prstGeom prst="rect">
            <a:avLst/>
          </a:prstGeom>
          <a:noFill/>
        </p:spPr>
        <p:txBody>
          <a:bodyPr wrap="square" lIns="0" tIns="0" rIns="0" bIns="0">
            <a:spAutoFit/>
          </a:bodyPr>
          <a:lstStyle/>
          <a:p>
            <a:pPr>
              <a:defRPr sz="2200" b="1">
                <a:solidFill>
                  <a:srgbClr val="0F172A"/>
                </a:solidFill>
                <a:latin typeface="Segoe UI" panose="020B0502040204020203"/>
              </a:defRPr>
            </a:pPr>
            <a:r>
              <a:t>3. Proposed Solution and Features</a:t>
            </a:r>
          </a:p>
        </p:txBody>
      </p:sp>
      <p:sp>
        <p:nvSpPr>
          <p:cNvPr id="4" name="Rounded Rectangle 3"/>
          <p:cNvSpPr/>
          <p:nvPr/>
        </p:nvSpPr>
        <p:spPr>
          <a:xfrm>
            <a:off x="9692640" y="384048"/>
            <a:ext cx="1874519" cy="329184"/>
          </a:xfrm>
          <a:prstGeom prst="roundRect">
            <a:avLst/>
          </a:prstGeom>
          <a:solidFill>
            <a:srgbClr val="D1FAE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59669"/>
                </a:solidFill>
                <a:latin typeface="Segoe UI" panose="020B0502040204020203"/>
              </a:defRPr>
            </a:pPr>
            <a:r>
              <a:t>System Architecture &amp; Features</a:t>
            </a:r>
          </a:p>
        </p:txBody>
      </p:sp>
      <p:sp>
        <p:nvSpPr>
          <p:cNvPr id="5" name="Rounded Rectangle 4"/>
          <p:cNvSpPr/>
          <p:nvPr/>
        </p:nvSpPr>
        <p:spPr>
          <a:xfrm>
            <a:off x="594360" y="1051560"/>
            <a:ext cx="3520440" cy="5212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188720"/>
            <a:ext cx="3154680" cy="4551045"/>
          </a:xfrm>
          <a:prstGeom prst="rect">
            <a:avLst/>
          </a:prstGeom>
          <a:noFill/>
        </p:spPr>
        <p:txBody>
          <a:bodyPr wrap="square">
            <a:spAutoFit/>
          </a:bodyPr>
          <a:lstStyle/>
          <a:p>
            <a:pPr indent="457200">
              <a:spcAft>
                <a:spcPts val="600"/>
              </a:spcAft>
              <a:defRPr sz="1300" b="1">
                <a:solidFill>
                  <a:srgbClr val="0F172A"/>
                </a:solidFill>
              </a:defRPr>
            </a:pPr>
            <a:r>
              <a:rPr sz="1600"/>
              <a:t>Admin Operations Suite</a:t>
            </a:r>
            <a:endParaRPr sz="1600"/>
          </a:p>
          <a:p>
            <a:pPr indent="457200">
              <a:spcAft>
                <a:spcPts val="600"/>
              </a:spcAft>
              <a:defRPr sz="1300" b="1">
                <a:solidFill>
                  <a:srgbClr val="0F172A"/>
                </a:solidFill>
              </a:defRPr>
            </a:pPr>
            <a:endParaRPr sz="1600"/>
          </a:p>
          <a:p>
            <a:pPr>
              <a:lnSpc>
                <a:spcPct val="115000"/>
              </a:lnSpc>
              <a:spcAft>
                <a:spcPts val="400"/>
              </a:spcAft>
            </a:pPr>
            <a:r>
              <a:rPr sz="1200" b="1">
                <a:solidFill>
                  <a:srgbClr val="10B981"/>
                </a:solidFill>
              </a:rPr>
              <a:t>• </a:t>
            </a:r>
            <a:r>
              <a:rPr sz="1200" b="1">
                <a:solidFill>
                  <a:srgbClr val="0F172A"/>
                </a:solidFill>
                <a:latin typeface="Segoe UI" panose="020B0502040204020203"/>
              </a:rPr>
              <a:t>Live Executive Dashboard: </a:t>
            </a:r>
            <a:r>
              <a:rPr sz="1200" b="0">
                <a:solidFill>
                  <a:srgbClr val="1E293B"/>
                </a:solidFill>
                <a:latin typeface="Segoe UI" panose="020B0502040204020203"/>
              </a:rPr>
              <a:t>8 real-time stat cards with dynamic MongoDB revenue &amp; attendance aggregation charts.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Member Directory: </a:t>
            </a:r>
            <a:r>
              <a:rPr sz="1200" b="0">
                <a:solidFill>
                  <a:srgbClr val="1E293B"/>
                </a:solidFill>
                <a:latin typeface="Segoe UI" panose="020B0502040204020203"/>
              </a:rPr>
              <a:t>Full CRUD operations, regex search on name/email/phone, status filters, and assigned trainer tracking.</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Trainer Directory: </a:t>
            </a:r>
            <a:r>
              <a:rPr sz="1200" b="0">
                <a:solidFill>
                  <a:srgbClr val="1E293B"/>
                </a:solidFill>
                <a:latin typeface="Segoe UI" panose="020B0502040204020203"/>
              </a:rPr>
              <a:t>Profiles for 11 specialized trainers across disciplines with salary, experience, and member assignment counts.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Membership Management: </a:t>
            </a:r>
            <a:r>
              <a:rPr sz="1200" b="0">
                <a:solidFill>
                  <a:srgbClr val="1E293B"/>
                </a:solidFill>
                <a:latin typeface="Segoe UI" panose="020B0502040204020203"/>
              </a:rPr>
              <a:t>Catalog of 6 configurable plans (Monthly, Quarterly, Yearly) with pricing, feature lists, and assignment tools.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Attendance Logging: </a:t>
            </a:r>
            <a:r>
              <a:rPr sz="1200" b="0">
                <a:solidFill>
                  <a:srgbClr val="1E293B"/>
                </a:solidFill>
                <a:latin typeface="Segoe UI" panose="020B0502040204020203"/>
              </a:rPr>
              <a:t>Daily member check-in registry with date filtering and duplicate prevention.</a:t>
            </a:r>
            <a:endParaRPr sz="1200" b="0">
              <a:solidFill>
                <a:srgbClr val="1E293B"/>
              </a:solidFill>
              <a:latin typeface="Segoe UI" panose="020B0502040204020203"/>
            </a:endParaRPr>
          </a:p>
        </p:txBody>
      </p:sp>
      <p:sp>
        <p:nvSpPr>
          <p:cNvPr id="7" name="Rounded Rectangle 6"/>
          <p:cNvSpPr/>
          <p:nvPr/>
        </p:nvSpPr>
        <p:spPr>
          <a:xfrm>
            <a:off x="4334256" y="1051560"/>
            <a:ext cx="3520440" cy="5212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17136" y="1188720"/>
            <a:ext cx="3154680" cy="4763135"/>
          </a:xfrm>
          <a:prstGeom prst="rect">
            <a:avLst/>
          </a:prstGeom>
          <a:noFill/>
        </p:spPr>
        <p:txBody>
          <a:bodyPr wrap="square">
            <a:spAutoFit/>
          </a:bodyPr>
          <a:lstStyle/>
          <a:p>
            <a:pPr indent="457200">
              <a:spcAft>
                <a:spcPts val="600"/>
              </a:spcAft>
              <a:defRPr sz="1300" b="1">
                <a:solidFill>
                  <a:srgbClr val="6366F1"/>
                </a:solidFill>
              </a:defRPr>
            </a:pPr>
            <a:r>
              <a:rPr sz="1600"/>
              <a:t>Member Portal &amp; FitAI</a:t>
            </a:r>
            <a:endParaRPr sz="1600"/>
          </a:p>
          <a:p>
            <a:pPr indent="457200">
              <a:spcAft>
                <a:spcPts val="600"/>
              </a:spcAft>
              <a:defRPr sz="1300" b="1">
                <a:solidFill>
                  <a:srgbClr val="6366F1"/>
                </a:solidFill>
              </a:defRPr>
            </a:pPr>
            <a:endParaRPr sz="1600"/>
          </a:p>
          <a:p>
            <a:pPr>
              <a:lnSpc>
                <a:spcPct val="115000"/>
              </a:lnSpc>
              <a:spcAft>
                <a:spcPts val="400"/>
              </a:spcAft>
            </a:pPr>
            <a:r>
              <a:rPr sz="1200" b="1">
                <a:solidFill>
                  <a:srgbClr val="10B981"/>
                </a:solidFill>
              </a:rPr>
              <a:t>• </a:t>
            </a:r>
            <a:r>
              <a:rPr sz="1200" b="1">
                <a:solidFill>
                  <a:srgbClr val="0F172A"/>
                </a:solidFill>
                <a:latin typeface="Segoe UI" panose="020B0502040204020203"/>
              </a:rPr>
              <a:t>Personal Dashboard: </a:t>
            </a:r>
            <a:r>
              <a:rPr sz="1200" b="0">
                <a:solidFill>
                  <a:srgbClr val="1E293B"/>
                </a:solidFill>
                <a:latin typeface="Segoe UI" panose="020B0502040204020203"/>
              </a:rPr>
              <a:t>Self-service overview showing active membership badge, remaining validity days, and total visits.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Membership Catalog: </a:t>
            </a:r>
            <a:r>
              <a:rPr sz="1200" b="0">
                <a:solidFill>
                  <a:srgbClr val="1E293B"/>
                </a:solidFill>
                <a:latin typeface="Segoe UI" panose="020B0502040204020203"/>
              </a:rPr>
              <a:t>Browse available tiers with duration, pricing, and feature comparisons.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Plan Request Queue: </a:t>
            </a:r>
            <a:r>
              <a:rPr sz="1200" b="0">
                <a:solidFill>
                  <a:srgbClr val="1E293B"/>
                </a:solidFill>
                <a:latin typeface="Segoe UI" panose="020B0502040204020203"/>
              </a:rPr>
              <a:t>One-click purchase requests with preferred start dates and status tracking (Pending, Approved, Rejected).</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Attendance History: </a:t>
            </a:r>
            <a:r>
              <a:rPr sz="1200" b="0">
                <a:solidFill>
                  <a:srgbClr val="1E293B"/>
                </a:solidFill>
                <a:latin typeface="Segoe UI" panose="020B0502040204020203"/>
              </a:rPr>
              <a:t>Chronological log of personal gym check-in sessions with date and time stamps.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FitAI Fitness Assistant: </a:t>
            </a:r>
            <a:r>
              <a:rPr sz="1200" b="0">
                <a:solidFill>
                  <a:srgbClr val="1E293B"/>
                </a:solidFill>
                <a:latin typeface="Segoe UI" panose="020B0502040204020203"/>
              </a:rPr>
              <a:t>Embedded AI assistant powered by Claude/OpenRouter generating customized workout and nutrition plans.</a:t>
            </a:r>
            <a:endParaRPr sz="1200" b="0">
              <a:solidFill>
                <a:srgbClr val="1E293B"/>
              </a:solidFill>
              <a:latin typeface="Segoe UI" panose="020B0502040204020203"/>
            </a:endParaRPr>
          </a:p>
        </p:txBody>
      </p:sp>
      <p:sp>
        <p:nvSpPr>
          <p:cNvPr id="9" name="Rounded Rectangle 8"/>
          <p:cNvSpPr/>
          <p:nvPr/>
        </p:nvSpPr>
        <p:spPr>
          <a:xfrm>
            <a:off x="8074152" y="1051560"/>
            <a:ext cx="3520440" cy="5212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7032" y="1188720"/>
            <a:ext cx="3154680" cy="4338320"/>
          </a:xfrm>
          <a:prstGeom prst="rect">
            <a:avLst/>
          </a:prstGeom>
          <a:noFill/>
        </p:spPr>
        <p:txBody>
          <a:bodyPr wrap="square">
            <a:spAutoFit/>
          </a:bodyPr>
          <a:lstStyle/>
          <a:p>
            <a:pPr indent="457200">
              <a:spcAft>
                <a:spcPts val="600"/>
              </a:spcAft>
              <a:defRPr sz="1300" b="1">
                <a:solidFill>
                  <a:srgbClr val="059669"/>
                </a:solidFill>
              </a:defRPr>
            </a:pPr>
            <a:r>
              <a:rPr sz="1600"/>
              <a:t>Core Event &amp; Data Services</a:t>
            </a:r>
            <a:endParaRPr sz="1600"/>
          </a:p>
          <a:p>
            <a:pPr indent="457200">
              <a:spcAft>
                <a:spcPts val="600"/>
              </a:spcAft>
              <a:defRPr sz="1300" b="1">
                <a:solidFill>
                  <a:srgbClr val="059669"/>
                </a:solidFill>
              </a:defRPr>
            </a:pPr>
            <a:endParaRPr sz="1600"/>
          </a:p>
          <a:p>
            <a:pPr>
              <a:lnSpc>
                <a:spcPct val="115000"/>
              </a:lnSpc>
              <a:spcAft>
                <a:spcPts val="400"/>
              </a:spcAft>
            </a:pPr>
            <a:r>
              <a:rPr sz="1200" b="1">
                <a:solidFill>
                  <a:srgbClr val="10B981"/>
                </a:solidFill>
              </a:rPr>
              <a:t>• </a:t>
            </a:r>
            <a:r>
              <a:rPr sz="1200" b="1">
                <a:solidFill>
                  <a:srgbClr val="0F172A"/>
                </a:solidFill>
                <a:latin typeface="Segoe UI" panose="020B0502040204020203"/>
              </a:rPr>
              <a:t>Socket.IO Notification Bell: </a:t>
            </a:r>
            <a:r>
              <a:rPr sz="1200" b="0">
                <a:solidFill>
                  <a:srgbClr val="1E293B"/>
                </a:solidFill>
                <a:latin typeface="Segoe UI" panose="020B0502040204020203"/>
              </a:rPr>
              <a:t>Instant push alerts to admin on new registrations, plan requests, payments, and trainer additions.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8 Category Filters: </a:t>
            </a:r>
            <a:r>
              <a:rPr sz="1200" b="0">
                <a:solidFill>
                  <a:srgbClr val="1E293B"/>
                </a:solidFill>
                <a:latin typeface="Segoe UI" panose="020B0502040204020203"/>
              </a:rPr>
              <a:t>Filter alerts by All, Unread, New Members, Requests, Approved, Expiring, Payments, and Trainers.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Scheduled Expiry Cron: </a:t>
            </a:r>
            <a:r>
              <a:rPr sz="1200" b="0">
                <a:solidFill>
                  <a:srgbClr val="1E293B"/>
                </a:solidFill>
                <a:latin typeface="Segoe UI" panose="020B0502040204020203"/>
              </a:rPr>
              <a:t>Node-Cron service running daily at 8:00 AM detecting plans expiring in 7d, 3d, or 0d with deduplication.</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Atomic Pre-Save Hooks: </a:t>
            </a:r>
            <a:r>
              <a:rPr sz="1200" b="0">
                <a:solidFill>
                  <a:srgbClr val="1E293B"/>
                </a:solidFill>
                <a:latin typeface="Segoe UI" panose="020B0502040204020203"/>
              </a:rPr>
              <a:t>Automatic sequential ID generation for MEM# and TRN# before saving to MongoDB.</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Cascading Referential Clean: </a:t>
            </a:r>
            <a:r>
              <a:rPr sz="1200" b="0">
                <a:solidFill>
                  <a:srgbClr val="1E293B"/>
                </a:solidFill>
                <a:latin typeface="Segoe UI" panose="020B0502040204020203"/>
              </a:rPr>
              <a:t>Automatic unassignment of trainer references from members upon trainer deletion.</a:t>
            </a:r>
            <a:endParaRPr sz="1200" b="0">
              <a:solidFill>
                <a:srgbClr val="1E293B"/>
              </a:solidFill>
              <a:latin typeface="Segoe UI" panose="020B05020402040202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8961120" cy="594360"/>
          </a:xfrm>
          <a:prstGeom prst="rect">
            <a:avLst/>
          </a:prstGeom>
          <a:noFill/>
        </p:spPr>
        <p:txBody>
          <a:bodyPr wrap="square" lIns="0" tIns="0" rIns="0" bIns="0">
            <a:spAutoFit/>
          </a:bodyPr>
          <a:lstStyle/>
          <a:p>
            <a:pPr>
              <a:defRPr sz="2200" b="1">
                <a:solidFill>
                  <a:srgbClr val="0F172A"/>
                </a:solidFill>
                <a:latin typeface="Segoe UI" panose="020B0502040204020203"/>
              </a:defRPr>
            </a:pPr>
            <a:r>
              <a:t>Project Workflow Diagram</a:t>
            </a:r>
          </a:p>
        </p:txBody>
      </p:sp>
      <p:sp>
        <p:nvSpPr>
          <p:cNvPr id="4" name="Rounded Rectangle 3"/>
          <p:cNvSpPr/>
          <p:nvPr/>
        </p:nvSpPr>
        <p:spPr>
          <a:xfrm>
            <a:off x="9692640" y="384048"/>
            <a:ext cx="1874519" cy="329184"/>
          </a:xfrm>
          <a:prstGeom prst="roundRect">
            <a:avLst/>
          </a:prstGeom>
          <a:solidFill>
            <a:srgbClr val="D1FAE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59669"/>
                </a:solidFill>
                <a:latin typeface="Segoe UI" panose="020B0502040204020203"/>
              </a:defRPr>
            </a:pPr>
            <a:r>
              <a:t>System Execution Flow</a:t>
            </a:r>
          </a:p>
        </p:txBody>
      </p:sp>
      <p:sp>
        <p:nvSpPr>
          <p:cNvPr id="5" name="Rounded Rectangle 4"/>
          <p:cNvSpPr/>
          <p:nvPr/>
        </p:nvSpPr>
        <p:spPr>
          <a:xfrm>
            <a:off x="240665" y="915035"/>
            <a:ext cx="11673205" cy="572135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1325880"/>
            <a:ext cx="1645920" cy="868680"/>
          </a:xfrm>
          <a:prstGeom prst="ellipse">
            <a:avLst/>
          </a:prstGeom>
          <a:solidFill>
            <a:srgbClr val="D1FAE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059669"/>
                </a:solidFill>
              </a:defRPr>
            </a:pPr>
            <a:r>
              <a:t>START</a:t>
            </a:r>
          </a:p>
          <a:p>
            <a:pPr algn="ctr">
              <a:defRPr sz="850" b="1">
                <a:solidFill>
                  <a:srgbClr val="0F172A"/>
                </a:solidFill>
              </a:defRPr>
            </a:pPr>
            <a:r>
              <a:t>Open FitPro Web App</a:t>
            </a:r>
            <a:br/>
            <a:r>
              <a:t>(Vite + React SPA)</a:t>
            </a:r>
          </a:p>
        </p:txBody>
      </p:sp>
      <p:sp>
        <p:nvSpPr>
          <p:cNvPr id="7" name="Right Arrow 6"/>
          <p:cNvSpPr/>
          <p:nvPr/>
        </p:nvSpPr>
        <p:spPr>
          <a:xfrm>
            <a:off x="2514600" y="1645920"/>
            <a:ext cx="411480" cy="219456"/>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71800" y="1325880"/>
            <a:ext cx="2011680" cy="86868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4F46E5"/>
                </a:solidFill>
              </a:defRPr>
            </a:pPr>
            <a:r>
              <a:t>AUTHENTICATION</a:t>
            </a:r>
          </a:p>
          <a:p>
            <a:pPr algn="ctr">
              <a:defRPr sz="850" b="1">
                <a:solidFill>
                  <a:srgbClr val="0F172A"/>
                </a:solidFill>
              </a:defRPr>
            </a:pPr>
            <a:r>
              <a:t>Submit Credentials</a:t>
            </a:r>
            <a:br/>
            <a:r>
              <a:t>JWT Token Issued</a:t>
            </a:r>
          </a:p>
        </p:txBody>
      </p:sp>
      <p:sp>
        <p:nvSpPr>
          <p:cNvPr id="9" name="Right Arrow 8"/>
          <p:cNvSpPr/>
          <p:nvPr/>
        </p:nvSpPr>
        <p:spPr>
          <a:xfrm>
            <a:off x="5029200" y="1645920"/>
            <a:ext cx="411480" cy="219456"/>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amond 9"/>
          <p:cNvSpPr/>
          <p:nvPr/>
        </p:nvSpPr>
        <p:spPr>
          <a:xfrm>
            <a:off x="5486400" y="1188720"/>
            <a:ext cx="2103120" cy="1143000"/>
          </a:xfrm>
          <a:prstGeom prst="diamond">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50" b="1">
                <a:solidFill>
                  <a:srgbClr val="B45309"/>
                </a:solidFill>
              </a:defRPr>
            </a:pPr>
            <a:r>
              <a:t>USER ROLE?</a:t>
            </a:r>
          </a:p>
          <a:p>
            <a:pPr algn="ctr">
              <a:defRPr sz="850" b="1">
                <a:solidFill>
                  <a:srgbClr val="0F172A"/>
                </a:solidFill>
              </a:defRPr>
            </a:pPr>
            <a:r>
              <a:t>Admin vs Member</a:t>
            </a:r>
          </a:p>
        </p:txBody>
      </p:sp>
      <p:sp>
        <p:nvSpPr>
          <p:cNvPr id="11" name="Right Arrow 10"/>
          <p:cNvSpPr/>
          <p:nvPr/>
        </p:nvSpPr>
        <p:spPr>
          <a:xfrm>
            <a:off x="7635240" y="1536192"/>
            <a:ext cx="384048" cy="201168"/>
          </a:xfrm>
          <a:prstGeom prst="rightArrow">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7635240" y="2907792"/>
            <a:ext cx="384048" cy="201168"/>
          </a:xfrm>
          <a:prstGeom prst="rightArrow">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1280160"/>
            <a:ext cx="640080" cy="228600"/>
          </a:xfrm>
          <a:prstGeom prst="rect">
            <a:avLst/>
          </a:prstGeom>
          <a:noFill/>
        </p:spPr>
        <p:txBody>
          <a:bodyPr wrap="none">
            <a:spAutoFit/>
          </a:bodyPr>
          <a:lstStyle/>
          <a:p>
            <a:pPr>
              <a:defRPr sz="800" b="1">
                <a:solidFill>
                  <a:srgbClr val="4F46E5"/>
                </a:solidFill>
              </a:defRPr>
            </a:pPr>
            <a:r>
              <a:t>Admin</a:t>
            </a:r>
          </a:p>
        </p:txBody>
      </p:sp>
      <p:sp>
        <p:nvSpPr>
          <p:cNvPr id="14" name="TextBox 13"/>
          <p:cNvSpPr txBox="1"/>
          <p:nvPr/>
        </p:nvSpPr>
        <p:spPr>
          <a:xfrm>
            <a:off x="7452360" y="2651760"/>
            <a:ext cx="685800" cy="228600"/>
          </a:xfrm>
          <a:prstGeom prst="rect">
            <a:avLst/>
          </a:prstGeom>
          <a:noFill/>
        </p:spPr>
        <p:txBody>
          <a:bodyPr wrap="none">
            <a:spAutoFit/>
          </a:bodyPr>
          <a:lstStyle/>
          <a:p>
            <a:pPr>
              <a:defRPr sz="800" b="1">
                <a:solidFill>
                  <a:srgbClr val="059669"/>
                </a:solidFill>
              </a:defRPr>
            </a:pPr>
            <a:r>
              <a:t>Member</a:t>
            </a:r>
          </a:p>
        </p:txBody>
      </p:sp>
      <p:sp>
        <p:nvSpPr>
          <p:cNvPr id="15" name="Rounded Rectangle 14"/>
          <p:cNvSpPr/>
          <p:nvPr/>
        </p:nvSpPr>
        <p:spPr>
          <a:xfrm>
            <a:off x="8092440" y="1234440"/>
            <a:ext cx="3337560" cy="1280160"/>
          </a:xfrm>
          <a:prstGeom prst="roundRect">
            <a:avLst/>
          </a:prstGeom>
          <a:solidFill>
            <a:srgbClr val="E0E7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50" b="1">
                <a:solidFill>
                  <a:srgbClr val="4F46E5"/>
                </a:solidFill>
              </a:defRPr>
            </a:pPr>
            <a:r>
              <a:t>ADMIN PORTAL WORKFLOW</a:t>
            </a:r>
          </a:p>
          <a:p>
            <a:pPr>
              <a:defRPr sz="850">
                <a:solidFill>
                  <a:srgbClr val="1E293B"/>
                </a:solidFill>
              </a:defRPr>
            </a:pPr>
            <a:r>
              <a:t>• Executive KPI Dashboard &amp; Real-Time Charts</a:t>
            </a:r>
          </a:p>
          <a:p>
            <a:pPr>
              <a:defRPr sz="850">
                <a:solidFill>
                  <a:srgbClr val="1E293B"/>
                </a:solidFill>
              </a:defRPr>
            </a:pPr>
            <a:r>
              <a:t>• Manage Members, Trainers, &amp; Plan Catalog</a:t>
            </a:r>
          </a:p>
          <a:p>
            <a:pPr>
              <a:defRPr sz="850">
                <a:solidFill>
                  <a:srgbClr val="1E293B"/>
                </a:solidFill>
              </a:defRPr>
            </a:pPr>
            <a:r>
              <a:t>• Review &amp; Approve Membership Requests</a:t>
            </a:r>
          </a:p>
          <a:p>
            <a:pPr>
              <a:defRPr sz="850">
                <a:solidFill>
                  <a:srgbClr val="1E293B"/>
                </a:solidFill>
              </a:defRPr>
            </a:pPr>
            <a:r>
              <a:t>• Real-Time Socket.IO Notification Bell (8 Filters)</a:t>
            </a:r>
          </a:p>
        </p:txBody>
      </p:sp>
      <p:sp>
        <p:nvSpPr>
          <p:cNvPr id="16" name="Rounded Rectangle 15"/>
          <p:cNvSpPr/>
          <p:nvPr/>
        </p:nvSpPr>
        <p:spPr>
          <a:xfrm>
            <a:off x="8092440" y="2606040"/>
            <a:ext cx="3337560" cy="1280160"/>
          </a:xfrm>
          <a:prstGeom prst="roundRect">
            <a:avLst/>
          </a:prstGeom>
          <a:solidFill>
            <a:srgbClr val="D1FAE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50" b="1">
                <a:solidFill>
                  <a:srgbClr val="059669"/>
                </a:solidFill>
              </a:defRPr>
            </a:pPr>
            <a:r>
              <a:t>MEMBER PORTAL WORKFLOW</a:t>
            </a:r>
          </a:p>
          <a:p>
            <a:pPr>
              <a:defRPr sz="850">
                <a:solidFill>
                  <a:srgbClr val="1E293B"/>
                </a:solidFill>
              </a:defRPr>
            </a:pPr>
            <a:r>
              <a:t>• Personal Dashboard &amp; Expiry Countdown</a:t>
            </a:r>
          </a:p>
          <a:p>
            <a:pPr>
              <a:defRPr sz="850">
                <a:solidFill>
                  <a:srgbClr val="1E293B"/>
                </a:solidFill>
              </a:defRPr>
            </a:pPr>
            <a:r>
              <a:t>• Browse Catalog &amp; Submit Membership Requests</a:t>
            </a:r>
          </a:p>
          <a:p>
            <a:pPr>
              <a:defRPr sz="850">
                <a:solidFill>
                  <a:srgbClr val="1E293B"/>
                </a:solidFill>
              </a:defRPr>
            </a:pPr>
            <a:r>
              <a:t>• Daily Attendance Registry &amp; Workout Plans</a:t>
            </a:r>
          </a:p>
          <a:p>
            <a:pPr>
              <a:defRPr sz="850">
                <a:solidFill>
                  <a:srgbClr val="1E293B"/>
                </a:solidFill>
              </a:defRPr>
            </a:pPr>
            <a:r>
              <a:t>• FitAI Interactive Fitness Assistant Consultation</a:t>
            </a:r>
          </a:p>
        </p:txBody>
      </p:sp>
      <p:sp>
        <p:nvSpPr>
          <p:cNvPr id="17" name="Down Arrow 16"/>
          <p:cNvSpPr/>
          <p:nvPr/>
        </p:nvSpPr>
        <p:spPr>
          <a:xfrm>
            <a:off x="5303520" y="3566160"/>
            <a:ext cx="237744" cy="384048"/>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23560" y="3611880"/>
            <a:ext cx="2286000" cy="320040"/>
          </a:xfrm>
          <a:prstGeom prst="rect">
            <a:avLst/>
          </a:prstGeom>
          <a:noFill/>
        </p:spPr>
        <p:txBody>
          <a:bodyPr wrap="none">
            <a:spAutoFit/>
          </a:bodyPr>
          <a:lstStyle/>
          <a:p>
            <a:pPr>
              <a:defRPr sz="850" b="1">
                <a:solidFill>
                  <a:srgbClr val="1E293B"/>
                </a:solidFill>
              </a:defRPr>
            </a:pPr>
            <a:r>
              <a:t>REST API Calls &amp; WebSocket Events</a:t>
            </a:r>
          </a:p>
        </p:txBody>
      </p:sp>
      <p:sp>
        <p:nvSpPr>
          <p:cNvPr id="19" name="Rounded Rectangle 18"/>
          <p:cNvSpPr/>
          <p:nvPr/>
        </p:nvSpPr>
        <p:spPr>
          <a:xfrm>
            <a:off x="822960" y="4069080"/>
            <a:ext cx="5760720" cy="205740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F172A"/>
                </a:solidFill>
              </a:defRPr>
            </a:pPr>
            <a:r>
              <a:t>APPLICATION TIER: EXPRESS BACKEND &amp; SERVICES</a:t>
            </a:r>
          </a:p>
          <a:p>
            <a:pPr>
              <a:defRPr sz="880">
                <a:solidFill>
                  <a:srgbClr val="1E293B"/>
                </a:solidFill>
              </a:defRPr>
            </a:pPr>
            <a:r>
              <a:t>• REST API Controllers: /api/members, /api/trainers, /api/memberships, etc.</a:t>
            </a:r>
          </a:p>
          <a:p>
            <a:pPr>
              <a:defRPr sz="880">
                <a:solidFill>
                  <a:srgbClr val="1E293B"/>
                </a:solidFill>
              </a:defRPr>
            </a:pPr>
            <a:r>
              <a:t>• Authentication Guard: JWT verification middleware (protect, adminOnly)</a:t>
            </a:r>
          </a:p>
          <a:p>
            <a:pPr>
              <a:defRPr sz="880">
                <a:solidFill>
                  <a:srgbClr val="1E293B"/>
                </a:solidFill>
              </a:defRPr>
            </a:pPr>
            <a:r>
              <a:t>• Real-Time Engine: Socket.IO Server broadcasting events to admin room</a:t>
            </a:r>
          </a:p>
          <a:p>
            <a:pPr>
              <a:defRPr sz="880">
                <a:solidFill>
                  <a:srgbClr val="1E293B"/>
                </a:solidFill>
              </a:defRPr>
            </a:pPr>
            <a:r>
              <a:t>• Scheduled Cron: Daily 08:00 AM audit detecting expiring subscriptions</a:t>
            </a:r>
          </a:p>
          <a:p>
            <a:pPr>
              <a:defRPr sz="880">
                <a:solidFill>
                  <a:srgbClr val="1E293B"/>
                </a:solidFill>
              </a:defRPr>
            </a:pPr>
            <a:r>
              <a:t>• Mongoose ODM v7.8: BSON schema validation &amp; pre-save MEM#/TRN# hooks</a:t>
            </a:r>
          </a:p>
        </p:txBody>
      </p:sp>
      <p:sp>
        <p:nvSpPr>
          <p:cNvPr id="20" name="Left-Right Arrow 19"/>
          <p:cNvSpPr/>
          <p:nvPr/>
        </p:nvSpPr>
        <p:spPr>
          <a:xfrm>
            <a:off x="6656832" y="4937760"/>
            <a:ext cx="585216" cy="256032"/>
          </a:xfrm>
          <a:prstGeom prst="leftRightArrow">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4645152"/>
            <a:ext cx="777240" cy="274320"/>
          </a:xfrm>
          <a:prstGeom prst="rect">
            <a:avLst/>
          </a:prstGeom>
          <a:noFill/>
        </p:spPr>
        <p:txBody>
          <a:bodyPr wrap="none">
            <a:spAutoFit/>
          </a:bodyPr>
          <a:lstStyle/>
          <a:p>
            <a:pPr algn="ctr">
              <a:defRPr sz="750" b="1">
                <a:solidFill>
                  <a:srgbClr val="059669"/>
                </a:solidFill>
              </a:defRPr>
            </a:pPr>
            <a:r>
              <a:t>CRUD / Agg</a:t>
            </a:r>
          </a:p>
        </p:txBody>
      </p:sp>
      <p:sp>
        <p:nvSpPr>
          <p:cNvPr id="22" name="Can 21"/>
          <p:cNvSpPr/>
          <p:nvPr/>
        </p:nvSpPr>
        <p:spPr>
          <a:xfrm>
            <a:off x="7315200" y="4069080"/>
            <a:ext cx="4114800" cy="2057400"/>
          </a:xfrm>
          <a:prstGeom prst="can">
            <a:avLst/>
          </a:prstGeom>
          <a:solidFill>
            <a:srgbClr val="D1FAE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59669"/>
                </a:solidFill>
              </a:defRPr>
            </a:pPr>
            <a:r>
              <a:t>MONGODB DATABASE (GymManagementDB)</a:t>
            </a:r>
          </a:p>
          <a:p>
            <a:pPr algn="ctr">
              <a:defRPr sz="820">
                <a:solidFill>
                  <a:srgbClr val="1E293B"/>
                </a:solidFill>
              </a:defRPr>
            </a:pPr>
            <a:r>
              <a:t>8 Production Collections (Document Model):</a:t>
            </a:r>
          </a:p>
          <a:p>
            <a:pPr algn="ctr">
              <a:defRPr sz="820">
                <a:solidFill>
                  <a:srgbClr val="1E293B"/>
                </a:solidFill>
              </a:defRPr>
            </a:pPr>
            <a:r>
              <a:t>members • trainers • memberships • membermemberships</a:t>
            </a:r>
          </a:p>
          <a:p>
            <a:pPr algn="ctr">
              <a:defRPr sz="820">
                <a:solidFill>
                  <a:srgbClr val="1E293B"/>
                </a:solidFill>
              </a:defRPr>
            </a:pPr>
            <a:r>
              <a:t>membershiprequests • attendances • workoutplans • notifications</a:t>
            </a:r>
          </a:p>
          <a:p>
            <a:pPr algn="ctr">
              <a:defRPr sz="820">
                <a:solidFill>
                  <a:srgbClr val="1E293B"/>
                </a:solidFill>
              </a:defRPr>
            </a:pPr>
            <a:r>
              <a:t>Compound Unique Indexes ({ memberId: 1, date: 1 })</a:t>
            </a:r>
          </a:p>
          <a:p>
            <a:pPr algn="ctr">
              <a:defRPr sz="820">
                <a:solidFill>
                  <a:srgbClr val="1E293B"/>
                </a:solidFill>
              </a:defRPr>
            </a:pPr>
            <a:r>
              <a:t>Aggregation Pipelines ($match, $lookup, $group, $sort)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8961120" cy="594360"/>
          </a:xfrm>
          <a:prstGeom prst="rect">
            <a:avLst/>
          </a:prstGeom>
          <a:noFill/>
        </p:spPr>
        <p:txBody>
          <a:bodyPr wrap="square" lIns="0" tIns="0" rIns="0" bIns="0">
            <a:spAutoFit/>
          </a:bodyPr>
          <a:lstStyle/>
          <a:p>
            <a:pPr>
              <a:defRPr sz="2200" b="1">
                <a:solidFill>
                  <a:srgbClr val="0F172A"/>
                </a:solidFill>
                <a:latin typeface="Segoe UI" panose="020B0502040204020203"/>
              </a:defRPr>
            </a:pPr>
            <a:r>
              <a:t>4. Technology Stack and Architecture</a:t>
            </a:r>
          </a:p>
        </p:txBody>
      </p:sp>
      <p:sp>
        <p:nvSpPr>
          <p:cNvPr id="4" name="Rounded Rectangle 3"/>
          <p:cNvSpPr/>
          <p:nvPr/>
        </p:nvSpPr>
        <p:spPr>
          <a:xfrm>
            <a:off x="9692640" y="384048"/>
            <a:ext cx="1874519" cy="329184"/>
          </a:xfrm>
          <a:prstGeom prst="roundRect">
            <a:avLst/>
          </a:prstGeom>
          <a:solidFill>
            <a:srgbClr val="D1FAE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59669"/>
                </a:solidFill>
                <a:latin typeface="Segoe UI" panose="020B0502040204020203"/>
              </a:defRPr>
            </a:pPr>
            <a:r>
              <a:t>Technical Foundation</a:t>
            </a:r>
          </a:p>
        </p:txBody>
      </p:sp>
      <p:sp>
        <p:nvSpPr>
          <p:cNvPr id="5" name="Rounded Rectangle 4"/>
          <p:cNvSpPr/>
          <p:nvPr/>
        </p:nvSpPr>
        <p:spPr>
          <a:xfrm>
            <a:off x="594360" y="1051560"/>
            <a:ext cx="562356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188720"/>
            <a:ext cx="5257800" cy="4309110"/>
          </a:xfrm>
          <a:prstGeom prst="rect">
            <a:avLst/>
          </a:prstGeom>
          <a:noFill/>
        </p:spPr>
        <p:txBody>
          <a:bodyPr wrap="square">
            <a:spAutoFit/>
          </a:bodyPr>
          <a:lstStyle/>
          <a:p>
            <a:pPr>
              <a:spcAft>
                <a:spcPts val="600"/>
              </a:spcAft>
              <a:defRPr sz="1300" b="1">
                <a:solidFill>
                  <a:srgbClr val="0F172A"/>
                </a:solidFill>
              </a:defRPr>
            </a:pPr>
            <a:endParaRPr sz="1400"/>
          </a:p>
          <a:p>
            <a:pPr marL="457200" lvl="1" indent="457200">
              <a:spcAft>
                <a:spcPts val="600"/>
              </a:spcAft>
              <a:defRPr sz="1300" b="1">
                <a:solidFill>
                  <a:srgbClr val="0F172A"/>
                </a:solidFill>
              </a:defRPr>
            </a:pPr>
            <a:r>
              <a:rPr sz="1600"/>
              <a:t>Technology Stack Components</a:t>
            </a:r>
            <a:endParaRPr sz="1600"/>
          </a:p>
          <a:p>
            <a:pPr marL="457200" lvl="1" indent="457200">
              <a:spcAft>
                <a:spcPts val="600"/>
              </a:spcAft>
              <a:defRPr sz="1300" b="1">
                <a:solidFill>
                  <a:srgbClr val="0F172A"/>
                </a:solidFill>
              </a:defRPr>
            </a:pPr>
            <a:endParaRPr sz="1600"/>
          </a:p>
          <a:p>
            <a:pPr>
              <a:lnSpc>
                <a:spcPct val="115000"/>
              </a:lnSpc>
              <a:spcAft>
                <a:spcPts val="400"/>
              </a:spcAft>
            </a:pPr>
            <a:r>
              <a:rPr sz="1200" b="1">
                <a:solidFill>
                  <a:srgbClr val="10B981"/>
                </a:solidFill>
              </a:rPr>
              <a:t>• </a:t>
            </a:r>
            <a:r>
              <a:rPr sz="1200" b="1">
                <a:solidFill>
                  <a:srgbClr val="0F172A"/>
                </a:solidFill>
                <a:latin typeface="Segoe UI" panose="020B0502040204020203"/>
              </a:rPr>
              <a:t>Frontend Client: </a:t>
            </a:r>
            <a:r>
              <a:rPr sz="1200" b="0">
                <a:solidFill>
                  <a:srgbClr val="1E293B"/>
                </a:solidFill>
                <a:latin typeface="Segoe UI" panose="020B0502040204020203"/>
              </a:rPr>
              <a:t>React.js 18 with Vite build tool, Tailwind CSS v4, Lucide React icons, and Axios HTTP client.</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Backend Framework: </a:t>
            </a:r>
            <a:r>
              <a:rPr sz="1200" b="0">
                <a:solidFill>
                  <a:srgbClr val="1E293B"/>
                </a:solidFill>
                <a:latin typeface="Segoe UI" panose="020B0502040204020203"/>
              </a:rPr>
              <a:t>Node.js v24 runtime with Express.js v4.21 providing modular RESTful API endpoints and middleware.</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Database Engine: </a:t>
            </a:r>
            <a:r>
              <a:rPr sz="1200" b="0">
                <a:solidFill>
                  <a:srgbClr val="1E293B"/>
                </a:solidFill>
                <a:latin typeface="Segoe UI" panose="020B0502040204020203"/>
              </a:rPr>
              <a:t>MongoDB 7.0 document database supporting high-performance JSON-like BSON document storage.</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Object Data Modeling: </a:t>
            </a:r>
            <a:r>
              <a:rPr sz="1200" b="0">
                <a:solidFill>
                  <a:srgbClr val="1E293B"/>
                </a:solidFill>
                <a:latin typeface="Segoe UI" panose="020B0502040204020203"/>
              </a:rPr>
              <a:t>Mongoose ODM v7.8 defining structured schemas, type validations, and async lifecycle hooks.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Real-Time Engine: </a:t>
            </a:r>
            <a:r>
              <a:rPr sz="1200" b="0">
                <a:solidFill>
                  <a:srgbClr val="1E293B"/>
                </a:solidFill>
                <a:latin typeface="Segoe UI" panose="020B0502040204020203"/>
              </a:rPr>
              <a:t>Socket.IO v4.8 enabling bidirectional WebSocket connections for immediate administrative push notifications.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Task Automation: </a:t>
            </a:r>
            <a:r>
              <a:rPr sz="1200" b="0">
                <a:solidFill>
                  <a:srgbClr val="1E293B"/>
                </a:solidFill>
                <a:latin typeface="Segoe UI" panose="020B0502040204020203"/>
              </a:rPr>
              <a:t>Node-Cron v3.0 managing recurring daily 8:00 AM background membership expiry audits.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Inspection Tooling: </a:t>
            </a:r>
            <a:r>
              <a:rPr sz="1200" b="0">
                <a:solidFill>
                  <a:srgbClr val="1E293B"/>
                </a:solidFill>
                <a:latin typeface="Segoe UI" panose="020B0502040204020203"/>
              </a:rPr>
              <a:t>MongoDB Compass v1.53 used as the visual GUI client for database inspection, indexing, and query profiling.</a:t>
            </a:r>
            <a:endParaRPr sz="1200" b="0">
              <a:solidFill>
                <a:srgbClr val="1E293B"/>
              </a:solidFill>
              <a:latin typeface="Segoe UI" panose="020B0502040204020203"/>
            </a:endParaRPr>
          </a:p>
        </p:txBody>
      </p:sp>
      <p:sp>
        <p:nvSpPr>
          <p:cNvPr id="7" name="Rounded Rectangle 6"/>
          <p:cNvSpPr/>
          <p:nvPr/>
        </p:nvSpPr>
        <p:spPr>
          <a:xfrm>
            <a:off x="6446520" y="1051560"/>
            <a:ext cx="538734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29400" y="1188720"/>
            <a:ext cx="3746500" cy="306705"/>
          </a:xfrm>
          <a:prstGeom prst="rect">
            <a:avLst/>
          </a:prstGeom>
          <a:noFill/>
        </p:spPr>
        <p:txBody>
          <a:bodyPr wrap="none">
            <a:spAutoFit/>
          </a:bodyPr>
          <a:lstStyle/>
          <a:p>
            <a:pPr marL="914400" lvl="2" indent="457200">
              <a:defRPr sz="1300" b="1">
                <a:solidFill>
                  <a:srgbClr val="0F172A"/>
                </a:solidFill>
              </a:defRPr>
            </a:pPr>
            <a:r>
              <a:rPr sz="1400"/>
              <a:t>MERN Multi-Tier Architecture</a:t>
            </a:r>
            <a:endParaRPr sz="1400"/>
          </a:p>
        </p:txBody>
      </p:sp>
      <p:sp>
        <p:nvSpPr>
          <p:cNvPr id="9" name="Rounded Rectangle 8"/>
          <p:cNvSpPr/>
          <p:nvPr/>
        </p:nvSpPr>
        <p:spPr>
          <a:xfrm>
            <a:off x="6720840" y="1645920"/>
            <a:ext cx="4617720" cy="731520"/>
          </a:xfrm>
          <a:prstGeom prst="roundRect">
            <a:avLst/>
          </a:prstGeom>
          <a:solidFill>
            <a:srgbClr val="E0E7FF"/>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4F46E5"/>
                </a:solidFill>
              </a:defRPr>
            </a:pPr>
            <a:r>
              <a:t>CLIENT TIER: React.js SPA (Vite + Tailwind CSS)</a:t>
            </a:r>
            <a:br/>
            <a:r>
              <a:t>Admin Portal  •  Member Portal  •  Socket.IO Client</a:t>
            </a:r>
          </a:p>
        </p:txBody>
      </p:sp>
      <p:sp>
        <p:nvSpPr>
          <p:cNvPr id="10" name="Down Arrow 9"/>
          <p:cNvSpPr/>
          <p:nvPr/>
        </p:nvSpPr>
        <p:spPr>
          <a:xfrm>
            <a:off x="8823960" y="2423160"/>
            <a:ext cx="411480" cy="228600"/>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720840" y="2697480"/>
            <a:ext cx="4617720" cy="86868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F172A"/>
                </a:solidFill>
              </a:defRPr>
            </a:pPr>
            <a:r>
              <a:t>APPLICATION TIER: Node.js + Express.js API</a:t>
            </a:r>
            <a:br/>
            <a:r>
              <a:t>JWT Auth Middleware  •  Route Controllers  •  Node-Cron</a:t>
            </a:r>
            <a:br/>
            <a:r>
              <a:t>Socket.IO Admin Room Event Dispatcher</a:t>
            </a:r>
          </a:p>
        </p:txBody>
      </p:sp>
      <p:sp>
        <p:nvSpPr>
          <p:cNvPr id="12" name="Down Arrow 11"/>
          <p:cNvSpPr/>
          <p:nvPr/>
        </p:nvSpPr>
        <p:spPr>
          <a:xfrm>
            <a:off x="8823960" y="3611880"/>
            <a:ext cx="411480" cy="228600"/>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720840" y="3886200"/>
            <a:ext cx="4617720" cy="594360"/>
          </a:xfrm>
          <a:prstGeom prst="roundRect">
            <a:avLst/>
          </a:prstGeom>
          <a:solidFill>
            <a:srgbClr val="FEF3C7"/>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F172A"/>
                </a:solidFill>
              </a:defRPr>
            </a:pPr>
            <a:r>
              <a:t>DATA MODELING LAYER: Mongoose ODM v7.8</a:t>
            </a:r>
            <a:br/>
            <a:r>
              <a:t>Schema Validation  •  Pre-Save Hooks  •  Population References</a:t>
            </a:r>
          </a:p>
        </p:txBody>
      </p:sp>
      <p:sp>
        <p:nvSpPr>
          <p:cNvPr id="14" name="Down Arrow 13"/>
          <p:cNvSpPr/>
          <p:nvPr/>
        </p:nvSpPr>
        <p:spPr>
          <a:xfrm>
            <a:off x="8823960" y="4526280"/>
            <a:ext cx="411480" cy="228600"/>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n 14"/>
          <p:cNvSpPr/>
          <p:nvPr/>
        </p:nvSpPr>
        <p:spPr>
          <a:xfrm>
            <a:off x="6720840" y="4800600"/>
            <a:ext cx="4617720" cy="1280160"/>
          </a:xfrm>
          <a:prstGeom prst="can">
            <a:avLst/>
          </a:prstGeom>
          <a:solidFill>
            <a:srgbClr val="D1FAE5"/>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59669"/>
                </a:solidFill>
              </a:defRPr>
            </a:pPr>
            <a:r>
              <a:t>PERSISTENCE TIER: MongoDB Database (GymManagementDB)</a:t>
            </a:r>
            <a:br/>
            <a:r>
              <a:t>8 Document Collections  •  Secondary &amp; Compound Indexes</a:t>
            </a:r>
            <a:br/>
            <a:r>
              <a:t>Aggregation Pipeline Engine  •  Compass Visual GUI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8961120" cy="594360"/>
          </a:xfrm>
          <a:prstGeom prst="rect">
            <a:avLst/>
          </a:prstGeom>
          <a:noFill/>
        </p:spPr>
        <p:txBody>
          <a:bodyPr wrap="square" lIns="0" tIns="0" rIns="0" bIns="0">
            <a:spAutoFit/>
          </a:bodyPr>
          <a:lstStyle/>
          <a:p>
            <a:pPr>
              <a:defRPr sz="2200" b="1">
                <a:solidFill>
                  <a:srgbClr val="0F172A"/>
                </a:solidFill>
                <a:latin typeface="Segoe UI" panose="020B0502040204020203"/>
              </a:defRPr>
            </a:pPr>
            <a:r>
              <a:t>5. MongoDB Database Design</a:t>
            </a:r>
          </a:p>
        </p:txBody>
      </p:sp>
      <p:sp>
        <p:nvSpPr>
          <p:cNvPr id="4" name="Rounded Rectangle 3"/>
          <p:cNvSpPr/>
          <p:nvPr/>
        </p:nvSpPr>
        <p:spPr>
          <a:xfrm>
            <a:off x="9692640" y="384048"/>
            <a:ext cx="1874519" cy="329184"/>
          </a:xfrm>
          <a:prstGeom prst="roundRect">
            <a:avLst/>
          </a:prstGeom>
          <a:solidFill>
            <a:srgbClr val="D1FAE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59669"/>
                </a:solidFill>
                <a:latin typeface="Segoe UI" panose="020B0502040204020203"/>
              </a:defRPr>
            </a:pPr>
            <a:r>
              <a:t>Database Modeling</a:t>
            </a:r>
          </a:p>
        </p:txBody>
      </p:sp>
      <p:sp>
        <p:nvSpPr>
          <p:cNvPr id="5" name="Rounded Rectangle 4"/>
          <p:cNvSpPr/>
          <p:nvPr/>
        </p:nvSpPr>
        <p:spPr>
          <a:xfrm>
            <a:off x="594360" y="1051560"/>
            <a:ext cx="5394960" cy="55499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188720"/>
            <a:ext cx="5029200" cy="4633595"/>
          </a:xfrm>
          <a:prstGeom prst="rect">
            <a:avLst/>
          </a:prstGeom>
          <a:noFill/>
        </p:spPr>
        <p:txBody>
          <a:bodyPr wrap="square">
            <a:spAutoFit/>
          </a:bodyPr>
          <a:lstStyle/>
          <a:p>
            <a:pPr indent="457200">
              <a:spcAft>
                <a:spcPts val="600"/>
              </a:spcAft>
              <a:defRPr sz="1300" b="1">
                <a:solidFill>
                  <a:srgbClr val="0F172A"/>
                </a:solidFill>
              </a:defRPr>
            </a:pPr>
            <a:endParaRPr sz="1400"/>
          </a:p>
          <a:p>
            <a:pPr indent="457200">
              <a:spcAft>
                <a:spcPts val="600"/>
              </a:spcAft>
              <a:defRPr sz="1300" b="1">
                <a:solidFill>
                  <a:srgbClr val="0F172A"/>
                </a:solidFill>
              </a:defRPr>
            </a:pPr>
            <a:r>
              <a:rPr sz="1400"/>
              <a:t>Verified Collections in 'GymManagementDB'</a:t>
            </a:r>
            <a:endParaRPr sz="1400"/>
          </a:p>
          <a:p>
            <a:pPr indent="457200">
              <a:spcAft>
                <a:spcPts val="600"/>
              </a:spcAft>
              <a:defRPr sz="1300" b="1">
                <a:solidFill>
                  <a:srgbClr val="0F172A"/>
                </a:solidFill>
              </a:defRPr>
            </a:pPr>
            <a:endParaRPr sz="1400"/>
          </a:p>
          <a:p>
            <a:pPr>
              <a:lnSpc>
                <a:spcPct val="115000"/>
              </a:lnSpc>
              <a:spcAft>
                <a:spcPts val="300"/>
              </a:spcAft>
            </a:pPr>
            <a:r>
              <a:rPr sz="1200" b="1">
                <a:solidFill>
                  <a:srgbClr val="10B981"/>
                </a:solidFill>
              </a:rPr>
              <a:t>• </a:t>
            </a:r>
            <a:r>
              <a:rPr sz="1200" b="1">
                <a:solidFill>
                  <a:srgbClr val="0F172A"/>
                </a:solidFill>
                <a:latin typeface="Segoe UI" panose="020B0502040204020203"/>
              </a:rPr>
              <a:t>1. members: </a:t>
            </a:r>
            <a:r>
              <a:rPr sz="1200" b="0">
                <a:solidFill>
                  <a:srgbClr val="1E293B"/>
                </a:solidFill>
                <a:latin typeface="Segoe UI" panose="020B0502040204020203"/>
              </a:rPr>
              <a:t>Stores member credentials, contact info, auto-generated MEM# ID, and assigned trainer ObjectId.</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2. trainers: </a:t>
            </a:r>
            <a:r>
              <a:rPr sz="1200" b="0">
                <a:solidFill>
                  <a:srgbClr val="1E293B"/>
                </a:solidFill>
                <a:latin typeface="Segoe UI" panose="020B0502040204020203"/>
              </a:rPr>
              <a:t>Staff trainer profiles with TRN# ID, specialization enum, salary, experience, and member counts.</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3. memberships: </a:t>
            </a:r>
            <a:r>
              <a:rPr sz="1200" b="0">
                <a:solidFill>
                  <a:srgbClr val="1E293B"/>
                </a:solidFill>
                <a:latin typeface="Segoe UI" panose="020B0502040204020203"/>
              </a:rPr>
              <a:t>Master plan catalog defining planName, durationMonths, price, features array, and badge.</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4. membermemberships: </a:t>
            </a:r>
            <a:r>
              <a:rPr sz="1200" b="0">
                <a:solidFill>
                  <a:srgbClr val="1E293B"/>
                </a:solidFill>
                <a:latin typeface="Segoe UI" panose="020B0502040204020203"/>
              </a:rPr>
              <a:t>Active and historical subscriptions storing amountPaid, paymentStatus, and embedded planSnapshot.</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5. membershiprequests: </a:t>
            </a:r>
            <a:r>
              <a:rPr sz="1200" b="0">
                <a:solidFill>
                  <a:srgbClr val="1E293B"/>
                </a:solidFill>
                <a:latin typeface="Segoe UI" panose="020B0502040204020203"/>
              </a:rPr>
              <a:t>Member-submitted plan requests with approval status, admin notes, and processing timestamps.</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6. attendances: </a:t>
            </a:r>
            <a:r>
              <a:rPr sz="1200" b="0">
                <a:solidFill>
                  <a:srgbClr val="1E293B"/>
                </a:solidFill>
                <a:latin typeface="Segoe UI" panose="020B0502040204020203"/>
              </a:rPr>
              <a:t>Daily check-in logs with memberId, date, checkInTime, and compound unique indexing.</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7. workoutplans: </a:t>
            </a:r>
            <a:r>
              <a:rPr sz="1200" b="0">
                <a:solidFill>
                  <a:srgbClr val="1E293B"/>
                </a:solidFill>
                <a:latin typeface="Segoe UI" panose="020B0502040204020203"/>
              </a:rPr>
              <a:t>Exercise routines containing difficulty, goal enum, and embedded exercise sub-documents.</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8. notifications: </a:t>
            </a:r>
            <a:r>
              <a:rPr sz="1200" b="0">
                <a:solidFill>
                  <a:srgbClr val="1E293B"/>
                </a:solidFill>
                <a:latin typeface="Segoe UI" panose="020B0502040204020203"/>
              </a:rPr>
              <a:t>Administrative alerts with event type enum, priority, read status, and metadata references.</a:t>
            </a:r>
            <a:endParaRPr sz="1200" b="0">
              <a:solidFill>
                <a:srgbClr val="1E293B"/>
              </a:solidFill>
              <a:latin typeface="Segoe UI" panose="020B0502040204020203"/>
            </a:endParaRPr>
          </a:p>
        </p:txBody>
      </p:sp>
      <p:sp>
        <p:nvSpPr>
          <p:cNvPr id="7" name="Rounded Rectangle 6"/>
          <p:cNvSpPr/>
          <p:nvPr/>
        </p:nvSpPr>
        <p:spPr>
          <a:xfrm>
            <a:off x="6217920" y="1051560"/>
            <a:ext cx="5394960" cy="55499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188720"/>
            <a:ext cx="5029200" cy="2373630"/>
          </a:xfrm>
          <a:prstGeom prst="rect">
            <a:avLst/>
          </a:prstGeom>
          <a:noFill/>
        </p:spPr>
        <p:txBody>
          <a:bodyPr wrap="square">
            <a:spAutoFit/>
          </a:bodyPr>
          <a:lstStyle/>
          <a:p>
            <a:pPr marL="457200" lvl="1" indent="457200">
              <a:spcAft>
                <a:spcPts val="400"/>
              </a:spcAft>
              <a:defRPr sz="1300" b="1">
                <a:solidFill>
                  <a:srgbClr val="0F172A"/>
                </a:solidFill>
              </a:defRPr>
            </a:pPr>
            <a:r>
              <a:rPr sz="1400"/>
              <a:t>Embedding vs. Referencing Design Strategy</a:t>
            </a:r>
            <a:endParaRPr sz="1400"/>
          </a:p>
          <a:p>
            <a:pPr marL="457200" lvl="1" indent="457200">
              <a:spcAft>
                <a:spcPts val="400"/>
              </a:spcAft>
              <a:defRPr sz="1300" b="1">
                <a:solidFill>
                  <a:srgbClr val="0F172A"/>
                </a:solidFill>
              </a:defRPr>
            </a:pPr>
            <a:endParaRPr sz="1400"/>
          </a:p>
          <a:p>
            <a:pPr>
              <a:lnSpc>
                <a:spcPct val="115000"/>
              </a:lnSpc>
              <a:spcAft>
                <a:spcPts val="400"/>
              </a:spcAft>
            </a:pPr>
            <a:r>
              <a:rPr sz="1200" b="1">
                <a:solidFill>
                  <a:srgbClr val="10B981"/>
                </a:solidFill>
              </a:rPr>
              <a:t>• </a:t>
            </a:r>
            <a:r>
              <a:rPr sz="1200" b="1">
                <a:solidFill>
                  <a:srgbClr val="0F172A"/>
                </a:solidFill>
                <a:latin typeface="Segoe UI" panose="020B0502040204020203"/>
              </a:rPr>
              <a:t>Referencing Strategy (Normalized): </a:t>
            </a:r>
            <a:r>
              <a:rPr sz="1200" b="0">
                <a:solidFill>
                  <a:srgbClr val="1E293B"/>
                </a:solidFill>
                <a:latin typeface="Segoe UI" panose="020B0502040204020203"/>
              </a:rPr>
              <a:t>memberId, trainerId, and membershipId use BSON ObjectId references. Prevents data duplication when member phone numbers or trainer bios change, maintaining relational integrity.</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Embedding Strategy (Denormalized): </a:t>
            </a:r>
            <a:r>
              <a:rPr sz="1200" b="0">
                <a:solidFill>
                  <a:srgbClr val="1E293B"/>
                </a:solidFill>
                <a:latin typeface="Segoe UI" panose="020B0502040204020203"/>
              </a:rPr>
              <a:t>planSnapshot is embedded in membermemberships. This freezes plan terms and pricing at the exact time of purchase, protecting historical billing records from future catalog price increases.</a:t>
            </a:r>
            <a:endParaRPr sz="1200" b="0">
              <a:solidFill>
                <a:srgbClr val="1E293B"/>
              </a:solidFill>
              <a:latin typeface="Segoe UI" panose="020B0502040204020203"/>
            </a:endParaRPr>
          </a:p>
        </p:txBody>
      </p:sp>
      <p:pic>
        <p:nvPicPr>
          <p:cNvPr id="9" name="Picture 8" descr="Screenshot (437).png"/>
          <p:cNvPicPr>
            <a:picLocks noChangeAspect="1"/>
          </p:cNvPicPr>
          <p:nvPr/>
        </p:nvPicPr>
        <p:blipFill>
          <a:blip r:embed="rId1"/>
          <a:stretch>
            <a:fillRect/>
          </a:stretch>
        </p:blipFill>
        <p:spPr>
          <a:xfrm>
            <a:off x="6552565" y="3639185"/>
            <a:ext cx="4618990" cy="25292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8961120" cy="594360"/>
          </a:xfrm>
          <a:prstGeom prst="rect">
            <a:avLst/>
          </a:prstGeom>
          <a:noFill/>
        </p:spPr>
        <p:txBody>
          <a:bodyPr wrap="square" lIns="0" tIns="0" rIns="0" bIns="0">
            <a:spAutoFit/>
          </a:bodyPr>
          <a:lstStyle/>
          <a:p>
            <a:pPr>
              <a:defRPr sz="2200" b="1">
                <a:solidFill>
                  <a:srgbClr val="0F172A"/>
                </a:solidFill>
                <a:latin typeface="Segoe UI" panose="020B0502040204020203"/>
              </a:defRPr>
            </a:pPr>
            <a:r>
              <a:t>MongoDB Compass: Schema &amp; Document Evidence</a:t>
            </a:r>
          </a:p>
        </p:txBody>
      </p:sp>
      <p:sp>
        <p:nvSpPr>
          <p:cNvPr id="4" name="Rounded Rectangle 3"/>
          <p:cNvSpPr/>
          <p:nvPr/>
        </p:nvSpPr>
        <p:spPr>
          <a:xfrm>
            <a:off x="9692640" y="384048"/>
            <a:ext cx="1874519" cy="329184"/>
          </a:xfrm>
          <a:prstGeom prst="roundRect">
            <a:avLst/>
          </a:prstGeom>
          <a:solidFill>
            <a:srgbClr val="D1FAE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59669"/>
                </a:solidFill>
                <a:latin typeface="Segoe UI" panose="020B0502040204020203"/>
              </a:defRPr>
            </a:pPr>
            <a:r>
              <a:t>Document Structure</a:t>
            </a:r>
          </a:p>
        </p:txBody>
      </p:sp>
      <p:sp>
        <p:nvSpPr>
          <p:cNvPr id="5" name="Rounded Rectangle 4"/>
          <p:cNvSpPr/>
          <p:nvPr/>
        </p:nvSpPr>
        <p:spPr>
          <a:xfrm>
            <a:off x="594360" y="1051560"/>
            <a:ext cx="5349240" cy="557593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188720"/>
            <a:ext cx="4983480" cy="2476500"/>
          </a:xfrm>
          <a:prstGeom prst="rect">
            <a:avLst/>
          </a:prstGeom>
          <a:noFill/>
        </p:spPr>
        <p:txBody>
          <a:bodyPr wrap="square">
            <a:spAutoFit/>
          </a:bodyPr>
          <a:lstStyle/>
          <a:p>
            <a:pPr>
              <a:spcAft>
                <a:spcPts val="400"/>
              </a:spcAft>
              <a:defRPr sz="1300" b="1">
                <a:solidFill>
                  <a:srgbClr val="0F172A"/>
                </a:solidFill>
              </a:defRPr>
            </a:pPr>
            <a:endParaRPr sz="1400"/>
          </a:p>
          <a:p>
            <a:pPr>
              <a:spcAft>
                <a:spcPts val="400"/>
              </a:spcAft>
              <a:defRPr sz="1300" b="1">
                <a:solidFill>
                  <a:srgbClr val="0F172A"/>
                </a:solidFill>
              </a:defRPr>
            </a:pPr>
            <a:r>
              <a:rPr sz="1400"/>
              <a:t>Collection 1: 'members' Document Structure</a:t>
            </a:r>
            <a:endParaRPr sz="1400"/>
          </a:p>
          <a:p>
            <a:pPr>
              <a:lnSpc>
                <a:spcPct val="115000"/>
              </a:lnSpc>
              <a:spcAft>
                <a:spcPts val="300"/>
              </a:spcAft>
            </a:pPr>
            <a:r>
              <a:rPr sz="1200" b="1">
                <a:solidFill>
                  <a:srgbClr val="10B981"/>
                </a:solidFill>
              </a:rPr>
              <a:t>• </a:t>
            </a:r>
            <a:r>
              <a:rPr sz="1200" b="1">
                <a:solidFill>
                  <a:srgbClr val="0F172A"/>
                </a:solidFill>
                <a:latin typeface="Segoe UI" panose="020B0502040204020203"/>
              </a:rPr>
              <a:t>BSON ObjectId: </a:t>
            </a:r>
            <a:r>
              <a:rPr sz="1200" b="0">
                <a:solidFill>
                  <a:srgbClr val="1E293B"/>
                </a:solidFill>
                <a:latin typeface="Segoe UI" panose="020B0502040204020203"/>
              </a:rPr>
              <a:t>_id: ObjectId('6aafacc2...') unique primary key.</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memberId: </a:t>
            </a:r>
            <a:r>
              <a:rPr sz="1200" b="0">
                <a:solidFill>
                  <a:srgbClr val="1E293B"/>
                </a:solidFill>
                <a:latin typeface="Segoe UI" panose="020B0502040204020203"/>
              </a:rPr>
              <a:t>'MEM0001' generated via collision-safe pre-save hook.</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Personal &amp; Contact: </a:t>
            </a:r>
            <a:r>
              <a:rPr sz="1200" b="0">
                <a:solidFill>
                  <a:srgbClr val="1E293B"/>
                </a:solidFill>
                <a:latin typeface="Segoe UI" panose="020B0502040204020203"/>
              </a:rPr>
              <a:t>name: 'Ponnuru Nithin', age: 22, phone, email (unique).</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Referenced Fields: </a:t>
            </a:r>
            <a:r>
              <a:rPr sz="1200" b="0">
                <a:solidFill>
                  <a:srgbClr val="1E293B"/>
                </a:solidFill>
                <a:latin typeface="Segoe UI" panose="020B0502040204020203"/>
              </a:rPr>
              <a:t>trainerId: ObjectId reference pointing to trainer 'David'.</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Indexes: </a:t>
            </a:r>
            <a:r>
              <a:rPr sz="1200" b="0">
                <a:solidFill>
                  <a:srgbClr val="1E293B"/>
                </a:solidFill>
                <a:latin typeface="Segoe UI" panose="020B0502040204020203"/>
              </a:rPr>
              <a:t>Text index on name/email/phone; single index on status &amp; joinDate.</a:t>
            </a:r>
            <a:endParaRPr sz="1200" b="0">
              <a:solidFill>
                <a:srgbClr val="1E293B"/>
              </a:solidFill>
              <a:latin typeface="Segoe UI" panose="020B0502040204020203"/>
            </a:endParaRPr>
          </a:p>
        </p:txBody>
      </p:sp>
      <p:pic>
        <p:nvPicPr>
          <p:cNvPr id="7" name="Picture 6" descr="Screenshot (440).png"/>
          <p:cNvPicPr>
            <a:picLocks noChangeAspect="1"/>
          </p:cNvPicPr>
          <p:nvPr/>
        </p:nvPicPr>
        <p:blipFill>
          <a:blip r:embed="rId1"/>
          <a:stretch>
            <a:fillRect/>
          </a:stretch>
        </p:blipFill>
        <p:spPr>
          <a:xfrm>
            <a:off x="874395" y="3665220"/>
            <a:ext cx="4789805" cy="2585720"/>
          </a:xfrm>
          <a:prstGeom prst="rect">
            <a:avLst/>
          </a:prstGeom>
        </p:spPr>
      </p:pic>
      <p:sp>
        <p:nvSpPr>
          <p:cNvPr id="8" name="Rounded Rectangle 7"/>
          <p:cNvSpPr/>
          <p:nvPr/>
        </p:nvSpPr>
        <p:spPr>
          <a:xfrm>
            <a:off x="6217920" y="1051560"/>
            <a:ext cx="5394960" cy="55753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188720"/>
            <a:ext cx="5029200" cy="2688590"/>
          </a:xfrm>
          <a:prstGeom prst="rect">
            <a:avLst/>
          </a:prstGeom>
          <a:noFill/>
        </p:spPr>
        <p:txBody>
          <a:bodyPr wrap="square">
            <a:spAutoFit/>
          </a:bodyPr>
          <a:lstStyle/>
          <a:p>
            <a:pPr>
              <a:spcAft>
                <a:spcPts val="400"/>
              </a:spcAft>
              <a:defRPr sz="1300" b="1">
                <a:solidFill>
                  <a:srgbClr val="0F172A"/>
                </a:solidFill>
              </a:defRPr>
            </a:pPr>
            <a:endParaRPr sz="1400"/>
          </a:p>
          <a:p>
            <a:pPr>
              <a:spcAft>
                <a:spcPts val="400"/>
              </a:spcAft>
              <a:defRPr sz="1300" b="1">
                <a:solidFill>
                  <a:srgbClr val="0F172A"/>
                </a:solidFill>
              </a:defRPr>
            </a:pPr>
            <a:r>
              <a:rPr sz="1400"/>
              <a:t>Collection 2: 'membermemberships' (Embedded Snapshot)</a:t>
            </a:r>
            <a:endParaRPr sz="1400"/>
          </a:p>
          <a:p>
            <a:pPr>
              <a:lnSpc>
                <a:spcPct val="115000"/>
              </a:lnSpc>
              <a:spcAft>
                <a:spcPts val="300"/>
              </a:spcAft>
            </a:pPr>
            <a:r>
              <a:rPr sz="1200" b="1">
                <a:solidFill>
                  <a:srgbClr val="10B981"/>
                </a:solidFill>
              </a:rPr>
              <a:t>• </a:t>
            </a:r>
            <a:r>
              <a:rPr sz="1200" b="1">
                <a:solidFill>
                  <a:srgbClr val="0F172A"/>
                </a:solidFill>
                <a:latin typeface="Segoe UI" panose="020B0502040204020203"/>
              </a:rPr>
              <a:t>Relational References: </a:t>
            </a:r>
            <a:r>
              <a:rPr sz="1200" b="0">
                <a:solidFill>
                  <a:srgbClr val="1E293B"/>
                </a:solidFill>
                <a:latin typeface="Segoe UI" panose="020B0502040204020203"/>
              </a:rPr>
              <a:t>memberId (ref: Member) and membershipId (ref: Membership).</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Embedded planSnapshot: </a:t>
            </a:r>
            <a:r>
              <a:rPr sz="1200" b="0">
                <a:solidFill>
                  <a:srgbClr val="1E293B"/>
                </a:solidFill>
                <a:latin typeface="Segoe UI" panose="020B0502040204020203"/>
              </a:rPr>
              <a:t>Nested sub-document storing planName, duration, price.</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Temporal BSON Dates: </a:t>
            </a:r>
            <a:r>
              <a:rPr sz="1200" b="0">
                <a:solidFill>
                  <a:srgbClr val="1E293B"/>
                </a:solidFill>
                <a:latin typeface="Segoe UI" panose="020B0502040204020203"/>
              </a:rPr>
              <a:t>startDate &amp; expiryDate stored as ISODate for range indexing.</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Financial Fields: </a:t>
            </a:r>
            <a:r>
              <a:rPr sz="1200" b="0">
                <a:solidFill>
                  <a:srgbClr val="1E293B"/>
                </a:solidFill>
                <a:latin typeface="Segoe UI" panose="020B0502040204020203"/>
              </a:rPr>
              <a:t>amountPaid: 1000, paymentStatus: 'Paid', paymentMethod: 'Cash'.</a:t>
            </a:r>
            <a:endParaRPr sz="1200" b="0">
              <a:solidFill>
                <a:srgbClr val="1E293B"/>
              </a:solidFill>
              <a:latin typeface="Segoe UI" panose="020B0502040204020203"/>
            </a:endParaRPr>
          </a:p>
          <a:p>
            <a:pPr>
              <a:lnSpc>
                <a:spcPct val="115000"/>
              </a:lnSpc>
              <a:spcAft>
                <a:spcPts val="300"/>
              </a:spcAft>
            </a:pPr>
            <a:endParaRPr sz="1200" b="0">
              <a:solidFill>
                <a:srgbClr val="1E293B"/>
              </a:solidFill>
              <a:latin typeface="Segoe UI" panose="020B0502040204020203"/>
            </a:endParaRPr>
          </a:p>
        </p:txBody>
      </p:sp>
      <p:pic>
        <p:nvPicPr>
          <p:cNvPr id="10" name="Picture 9" descr="Screenshot (439).png"/>
          <p:cNvPicPr>
            <a:picLocks noChangeAspect="1"/>
          </p:cNvPicPr>
          <p:nvPr/>
        </p:nvPicPr>
        <p:blipFill>
          <a:blip r:embed="rId2"/>
          <a:stretch>
            <a:fillRect/>
          </a:stretch>
        </p:blipFill>
        <p:spPr>
          <a:xfrm>
            <a:off x="6577965" y="3638550"/>
            <a:ext cx="4852670" cy="26123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8961120" cy="594360"/>
          </a:xfrm>
          <a:prstGeom prst="rect">
            <a:avLst/>
          </a:prstGeom>
          <a:noFill/>
        </p:spPr>
        <p:txBody>
          <a:bodyPr wrap="square" lIns="0" tIns="0" rIns="0" bIns="0">
            <a:spAutoFit/>
          </a:bodyPr>
          <a:lstStyle/>
          <a:p>
            <a:pPr>
              <a:defRPr sz="2200" b="1">
                <a:solidFill>
                  <a:srgbClr val="0F172A"/>
                </a:solidFill>
                <a:latin typeface="Segoe UI" panose="020B0502040204020203"/>
              </a:defRPr>
            </a:pPr>
            <a:r>
              <a:t>6. Validation, Relationships and Indexing</a:t>
            </a:r>
          </a:p>
        </p:txBody>
      </p:sp>
      <p:sp>
        <p:nvSpPr>
          <p:cNvPr id="4" name="Rounded Rectangle 3"/>
          <p:cNvSpPr/>
          <p:nvPr/>
        </p:nvSpPr>
        <p:spPr>
          <a:xfrm>
            <a:off x="9692640" y="384048"/>
            <a:ext cx="1874519" cy="329184"/>
          </a:xfrm>
          <a:prstGeom prst="roundRect">
            <a:avLst/>
          </a:prstGeom>
          <a:solidFill>
            <a:srgbClr val="D1FAE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59669"/>
                </a:solidFill>
                <a:latin typeface="Segoe UI" panose="020B0502040204020203"/>
              </a:defRPr>
            </a:pPr>
            <a:r>
              <a:t>Integrity &amp; Indexing</a:t>
            </a:r>
          </a:p>
        </p:txBody>
      </p:sp>
      <p:sp>
        <p:nvSpPr>
          <p:cNvPr id="5" name="Rounded Rectangle 4"/>
          <p:cNvSpPr/>
          <p:nvPr/>
        </p:nvSpPr>
        <p:spPr>
          <a:xfrm>
            <a:off x="594360" y="1051560"/>
            <a:ext cx="3520440" cy="5521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188720"/>
            <a:ext cx="3154680" cy="4357370"/>
          </a:xfrm>
          <a:prstGeom prst="rect">
            <a:avLst/>
          </a:prstGeom>
          <a:noFill/>
        </p:spPr>
        <p:txBody>
          <a:bodyPr wrap="square">
            <a:spAutoFit/>
          </a:bodyPr>
          <a:lstStyle/>
          <a:p>
            <a:pPr>
              <a:spcAft>
                <a:spcPts val="600"/>
              </a:spcAft>
              <a:defRPr sz="1300" b="1">
                <a:solidFill>
                  <a:srgbClr val="0F172A"/>
                </a:solidFill>
              </a:defRPr>
            </a:pPr>
            <a:endParaRPr sz="1400"/>
          </a:p>
          <a:p>
            <a:pPr indent="457200">
              <a:spcAft>
                <a:spcPts val="600"/>
              </a:spcAft>
              <a:defRPr sz="1300" b="1">
                <a:solidFill>
                  <a:srgbClr val="0F172A"/>
                </a:solidFill>
              </a:defRPr>
            </a:pPr>
            <a:r>
              <a:rPr sz="1400"/>
              <a:t>Schema Validation Rules</a:t>
            </a:r>
            <a:endParaRPr sz="1400"/>
          </a:p>
          <a:p>
            <a:pPr indent="457200">
              <a:spcAft>
                <a:spcPts val="600"/>
              </a:spcAft>
              <a:defRPr sz="1300" b="1">
                <a:solidFill>
                  <a:srgbClr val="0F172A"/>
                </a:solidFill>
              </a:defRPr>
            </a:pPr>
            <a:endParaRPr sz="1400"/>
          </a:p>
          <a:p>
            <a:pPr>
              <a:lnSpc>
                <a:spcPct val="115000"/>
              </a:lnSpc>
              <a:spcAft>
                <a:spcPts val="400"/>
              </a:spcAft>
            </a:pPr>
            <a:r>
              <a:rPr sz="1200" b="1">
                <a:solidFill>
                  <a:srgbClr val="10B981"/>
                </a:solidFill>
              </a:rPr>
              <a:t>• </a:t>
            </a:r>
            <a:r>
              <a:rPr sz="1200" b="1">
                <a:solidFill>
                  <a:srgbClr val="0F172A"/>
                </a:solidFill>
                <a:latin typeface="Segoe UI" panose="020B0502040204020203"/>
              </a:rPr>
              <a:t>Regex Email Validation: </a:t>
            </a:r>
            <a:r>
              <a:rPr sz="1200" b="0">
                <a:solidFill>
                  <a:srgbClr val="1E293B"/>
                </a:solidFill>
                <a:latin typeface="Segoe UI" panose="020B0502040204020203"/>
              </a:rPr>
              <a:t>Enforces valid structure: /^[^\s@]+@[^\s@]+\.[^\s@]+$/ on member and trainer models.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Phone Format Rules: </a:t>
            </a:r>
            <a:r>
              <a:rPr sz="1200" b="0">
                <a:solidFill>
                  <a:srgbClr val="1E293B"/>
                </a:solidFill>
                <a:latin typeface="Segoe UI" panose="020B0502040204020203"/>
              </a:rPr>
              <a:t>Validates string length (7 to 15 digits) ensuring telephone format compliance.</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Numerical Boundaries: </a:t>
            </a:r>
            <a:r>
              <a:rPr sz="1200" b="0">
                <a:solidFill>
                  <a:srgbClr val="1E293B"/>
                </a:solidFill>
                <a:latin typeface="Segoe UI" panose="020B0502040204020203"/>
              </a:rPr>
              <a:t>Member age constrained to 5–120; plan duration &gt;= 1 month; prices must be non-negative.</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Strict Enumerations: </a:t>
            </a:r>
            <a:r>
              <a:rPr sz="1200" b="0">
                <a:solidFill>
                  <a:srgbClr val="1E293B"/>
                </a:solidFill>
                <a:latin typeface="Segoe UI" panose="020B0502040204020203"/>
              </a:rPr>
              <a:t>Gender: ['Male', 'Female', 'Other']; Specialization: 10 fitness domains; Status: ['Active', 'Inactive'].</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Pre-Save Hooks: </a:t>
            </a:r>
            <a:r>
              <a:rPr sz="1200" b="0">
                <a:solidFill>
                  <a:srgbClr val="1E293B"/>
                </a:solidFill>
                <a:latin typeface="Segoe UI" panose="020B0502040204020203"/>
              </a:rPr>
              <a:t>Async hooks generate sequential MEM# and TRN# without calling deprecated next() callbacks.</a:t>
            </a:r>
            <a:endParaRPr sz="1200" b="0">
              <a:solidFill>
                <a:srgbClr val="1E293B"/>
              </a:solidFill>
              <a:latin typeface="Segoe UI" panose="020B0502040204020203"/>
            </a:endParaRPr>
          </a:p>
        </p:txBody>
      </p:sp>
      <p:sp>
        <p:nvSpPr>
          <p:cNvPr id="7" name="Rounded Rectangle 6"/>
          <p:cNvSpPr/>
          <p:nvPr/>
        </p:nvSpPr>
        <p:spPr>
          <a:xfrm>
            <a:off x="4334510" y="1051560"/>
            <a:ext cx="3520440" cy="5521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17136" y="1188720"/>
            <a:ext cx="3154680" cy="4993640"/>
          </a:xfrm>
          <a:prstGeom prst="rect">
            <a:avLst/>
          </a:prstGeom>
          <a:noFill/>
        </p:spPr>
        <p:txBody>
          <a:bodyPr wrap="square">
            <a:spAutoFit/>
          </a:bodyPr>
          <a:lstStyle/>
          <a:p>
            <a:pPr>
              <a:spcAft>
                <a:spcPts val="600"/>
              </a:spcAft>
              <a:defRPr sz="1300" b="1">
                <a:solidFill>
                  <a:srgbClr val="6366F1"/>
                </a:solidFill>
              </a:defRPr>
            </a:pPr>
            <a:endParaRPr sz="1400"/>
          </a:p>
          <a:p>
            <a:pPr indent="457200">
              <a:spcAft>
                <a:spcPts val="600"/>
              </a:spcAft>
              <a:defRPr sz="1300" b="1">
                <a:solidFill>
                  <a:srgbClr val="6366F1"/>
                </a:solidFill>
              </a:defRPr>
            </a:pPr>
            <a:r>
              <a:rPr sz="1400"/>
              <a:t>Document Relationships</a:t>
            </a:r>
            <a:endParaRPr sz="1400"/>
          </a:p>
          <a:p>
            <a:pPr indent="457200">
              <a:spcAft>
                <a:spcPts val="600"/>
              </a:spcAft>
              <a:defRPr sz="1300" b="1">
                <a:solidFill>
                  <a:srgbClr val="6366F1"/>
                </a:solidFill>
              </a:defRPr>
            </a:pPr>
            <a:endParaRPr sz="1400"/>
          </a:p>
          <a:p>
            <a:pPr>
              <a:lnSpc>
                <a:spcPct val="115000"/>
              </a:lnSpc>
              <a:spcAft>
                <a:spcPts val="400"/>
              </a:spcAft>
            </a:pPr>
            <a:r>
              <a:rPr sz="1200" b="1">
                <a:solidFill>
                  <a:srgbClr val="10B981"/>
                </a:solidFill>
              </a:rPr>
              <a:t>• </a:t>
            </a:r>
            <a:r>
              <a:rPr sz="1200" b="1">
                <a:solidFill>
                  <a:srgbClr val="0F172A"/>
                </a:solidFill>
                <a:latin typeface="Segoe UI" panose="020B0502040204020203"/>
              </a:rPr>
              <a:t>1:N Trainer to Members: </a:t>
            </a:r>
            <a:r>
              <a:rPr sz="1200" b="0">
                <a:solidFill>
                  <a:srgbClr val="1E293B"/>
                </a:solidFill>
                <a:latin typeface="Segoe UI" panose="020B0502040204020203"/>
              </a:rPr>
              <a:t>Each trainer document can be assigned to multiple members via trainerId reference in members.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1:N Member to Subscriptions: </a:t>
            </a:r>
            <a:r>
              <a:rPr sz="1200" b="0">
                <a:solidFill>
                  <a:srgbClr val="1E293B"/>
                </a:solidFill>
                <a:latin typeface="Segoe UI" panose="020B0502040204020203"/>
              </a:rPr>
              <a:t>A member document maintains historical and active subscriptions via memberId in membermemberships.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1:N Member to Attendance: </a:t>
            </a:r>
            <a:r>
              <a:rPr sz="1200" b="0">
                <a:solidFill>
                  <a:srgbClr val="1E293B"/>
                </a:solidFill>
                <a:latin typeface="Segoe UI" panose="020B0502040204020203"/>
              </a:rPr>
              <a:t>Daily check-in logs reference memberId, enabling fast member attendance aggregation.</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1:1 Plan Assignment: </a:t>
            </a:r>
            <a:r>
              <a:rPr sz="1200" b="0">
                <a:solidFill>
                  <a:srgbClr val="1E293B"/>
                </a:solidFill>
                <a:latin typeface="Segoe UI" panose="020B0502040204020203"/>
              </a:rPr>
              <a:t>Each active subscription connects 1 member with 1 master plan from the memberships collection.</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Cascading Unassign: </a:t>
            </a:r>
            <a:r>
              <a:rPr sz="1200" b="0">
                <a:solidFill>
                  <a:srgbClr val="1E293B"/>
                </a:solidFill>
                <a:latin typeface="Segoe UI" panose="020B0502040204020203"/>
              </a:rPr>
              <a:t>When a trainer is deleted, backend middleware sets trainerId: null across all affected members.</a:t>
            </a:r>
            <a:endParaRPr sz="1200" b="0">
              <a:solidFill>
                <a:srgbClr val="1E293B"/>
              </a:solidFill>
              <a:latin typeface="Segoe UI" panose="020B0502040204020203"/>
            </a:endParaRPr>
          </a:p>
        </p:txBody>
      </p:sp>
      <p:sp>
        <p:nvSpPr>
          <p:cNvPr id="9" name="Rounded Rectangle 8"/>
          <p:cNvSpPr/>
          <p:nvPr/>
        </p:nvSpPr>
        <p:spPr>
          <a:xfrm>
            <a:off x="8074025" y="1051560"/>
            <a:ext cx="3520440" cy="5521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7032" y="1188720"/>
            <a:ext cx="3154680" cy="5206365"/>
          </a:xfrm>
          <a:prstGeom prst="rect">
            <a:avLst/>
          </a:prstGeom>
          <a:noFill/>
        </p:spPr>
        <p:txBody>
          <a:bodyPr wrap="square">
            <a:spAutoFit/>
          </a:bodyPr>
          <a:lstStyle/>
          <a:p>
            <a:pPr>
              <a:spcAft>
                <a:spcPts val="600"/>
              </a:spcAft>
              <a:defRPr sz="1300" b="1">
                <a:solidFill>
                  <a:srgbClr val="059669"/>
                </a:solidFill>
              </a:defRPr>
            </a:pPr>
            <a:endParaRPr sz="1400"/>
          </a:p>
          <a:p>
            <a:pPr indent="457200">
              <a:spcAft>
                <a:spcPts val="600"/>
              </a:spcAft>
              <a:defRPr sz="1300" b="1">
                <a:solidFill>
                  <a:srgbClr val="059669"/>
                </a:solidFill>
              </a:defRPr>
            </a:pPr>
            <a:r>
              <a:rPr sz="1400"/>
              <a:t>Verified Database Indexes</a:t>
            </a:r>
            <a:endParaRPr sz="1400"/>
          </a:p>
          <a:p>
            <a:pPr indent="457200">
              <a:spcAft>
                <a:spcPts val="600"/>
              </a:spcAft>
              <a:defRPr sz="1300" b="1">
                <a:solidFill>
                  <a:srgbClr val="059669"/>
                </a:solidFill>
              </a:defRPr>
            </a:pPr>
            <a:endParaRPr sz="1400"/>
          </a:p>
          <a:p>
            <a:pPr>
              <a:lnSpc>
                <a:spcPct val="115000"/>
              </a:lnSpc>
              <a:spcAft>
                <a:spcPts val="400"/>
              </a:spcAft>
            </a:pPr>
            <a:r>
              <a:rPr sz="1200" b="1">
                <a:solidFill>
                  <a:srgbClr val="10B981"/>
                </a:solidFill>
              </a:rPr>
              <a:t>• </a:t>
            </a:r>
            <a:r>
              <a:rPr sz="1200" b="1">
                <a:solidFill>
                  <a:srgbClr val="0F172A"/>
                </a:solidFill>
                <a:latin typeface="Segoe UI" panose="020B0502040204020203"/>
              </a:rPr>
              <a:t>Text Search Index: </a:t>
            </a:r>
            <a:r>
              <a:rPr sz="1200" b="0">
                <a:solidFill>
                  <a:srgbClr val="1E293B"/>
                </a:solidFill>
                <a:latin typeface="Segoe UI" panose="020B0502040204020203"/>
              </a:rPr>
              <a:t>{ name: 'text', email: 'text', phone: 'text' } in members enables instantaneous global search across 3 fields.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Compound Unique Index: </a:t>
            </a:r>
            <a:r>
              <a:rPr sz="1200" b="0">
                <a:solidFill>
                  <a:srgbClr val="1E293B"/>
                </a:solidFill>
                <a:latin typeface="Segoe UI" panose="020B0502040204020203"/>
              </a:rPr>
              <a:t>{ memberId: 1, date: 1 } in attendances physically guarantees no duplicate check-ins on the same day!</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Expiry Query Index: </a:t>
            </a:r>
            <a:r>
              <a:rPr sz="1200" b="0">
                <a:solidFill>
                  <a:srgbClr val="1E293B"/>
                </a:solidFill>
                <a:latin typeface="Segoe UI" panose="020B0502040204020203"/>
              </a:rPr>
              <a:t>{ expiryDate: 1 } in membermemberships accelerates daily 8:00 AM cron checks across thousands of records.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Compound Status Index: </a:t>
            </a:r>
            <a:r>
              <a:rPr sz="1200" b="0">
                <a:solidFill>
                  <a:srgbClr val="1E293B"/>
                </a:solidFill>
                <a:latin typeface="Segoe UI" panose="020B0502040204020203"/>
              </a:rPr>
              <a:t>{ memberId: 1, status: 1 } speeds up member dashboard active plan resolution to sub-millisecond speeds.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Invalid Test Handled: </a:t>
            </a:r>
            <a:r>
              <a:rPr sz="1200" b="0">
                <a:solidFill>
                  <a:srgbClr val="1E293B"/>
                </a:solidFill>
                <a:latin typeface="Segoe UI" panose="020B0502040204020203"/>
              </a:rPr>
              <a:t>Attempting a second check-in on the same date triggers MongoDB E11000 error, returned as clean HTTP 409.</a:t>
            </a:r>
            <a:endParaRPr sz="1200" b="0">
              <a:solidFill>
                <a:srgbClr val="1E293B"/>
              </a:solidFill>
              <a:latin typeface="Segoe UI" panose="020B050204020402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8961120" cy="594360"/>
          </a:xfrm>
          <a:prstGeom prst="rect">
            <a:avLst/>
          </a:prstGeom>
          <a:noFill/>
        </p:spPr>
        <p:txBody>
          <a:bodyPr wrap="square" lIns="0" tIns="0" rIns="0" bIns="0">
            <a:spAutoFit/>
          </a:bodyPr>
          <a:lstStyle/>
          <a:p>
            <a:pPr>
              <a:defRPr sz="2200" b="1">
                <a:solidFill>
                  <a:srgbClr val="0F172A"/>
                </a:solidFill>
                <a:latin typeface="Segoe UI" panose="020B0502040204020203"/>
              </a:defRPr>
            </a:pPr>
            <a:r>
              <a:t>7. Implementation: CRUD Operations</a:t>
            </a:r>
          </a:p>
        </p:txBody>
      </p:sp>
      <p:sp>
        <p:nvSpPr>
          <p:cNvPr id="4" name="Rounded Rectangle 3"/>
          <p:cNvSpPr/>
          <p:nvPr/>
        </p:nvSpPr>
        <p:spPr>
          <a:xfrm>
            <a:off x="9692640" y="384048"/>
            <a:ext cx="1874519" cy="329184"/>
          </a:xfrm>
          <a:prstGeom prst="roundRect">
            <a:avLst/>
          </a:prstGeom>
          <a:solidFill>
            <a:srgbClr val="D1FAE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59669"/>
                </a:solidFill>
                <a:latin typeface="Segoe UI" panose="020B0502040204020203"/>
              </a:defRPr>
            </a:pPr>
            <a:r>
              <a:t>Backend Implementation</a:t>
            </a:r>
          </a:p>
        </p:txBody>
      </p:sp>
      <p:sp>
        <p:nvSpPr>
          <p:cNvPr id="5" name="Rounded Rectangle 4"/>
          <p:cNvSpPr/>
          <p:nvPr/>
        </p:nvSpPr>
        <p:spPr>
          <a:xfrm>
            <a:off x="594360" y="1051560"/>
            <a:ext cx="5349240"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143000"/>
            <a:ext cx="4983480" cy="1830070"/>
          </a:xfrm>
          <a:prstGeom prst="rect">
            <a:avLst/>
          </a:prstGeom>
          <a:noFill/>
        </p:spPr>
        <p:txBody>
          <a:bodyPr wrap="square">
            <a:spAutoFit/>
          </a:bodyPr>
          <a:lstStyle/>
          <a:p>
            <a:pPr>
              <a:defRPr sz="1200" b="1">
                <a:solidFill>
                  <a:srgbClr val="059669"/>
                </a:solidFill>
              </a:defRPr>
            </a:pPr>
            <a:endParaRPr sz="1400"/>
          </a:p>
          <a:p>
            <a:pPr>
              <a:defRPr sz="1200" b="1">
                <a:solidFill>
                  <a:srgbClr val="059669"/>
                </a:solidFill>
              </a:defRPr>
            </a:pPr>
            <a:endParaRPr sz="1400"/>
          </a:p>
          <a:p>
            <a:pPr>
              <a:defRPr sz="1200" b="1">
                <a:solidFill>
                  <a:srgbClr val="059669"/>
                </a:solidFill>
              </a:defRPr>
            </a:pPr>
            <a:r>
              <a:rPr sz="1400"/>
              <a:t>CREATE (C): Member Registration &amp; ID Generation</a:t>
            </a:r>
            <a:endParaRPr sz="1400"/>
          </a:p>
          <a:p>
            <a:pPr>
              <a:defRPr sz="900">
                <a:solidFill>
                  <a:srgbClr val="4F46E5"/>
                </a:solidFill>
                <a:latin typeface="Consolas" panose="020B0609020204030204"/>
              </a:defRPr>
            </a:pPr>
            <a:r>
              <a:rPr sz="1000"/>
              <a:t>// memberController.js -&gt; createMember</a:t>
            </a:r>
            <a:br>
              <a:rPr sz="1000"/>
            </a:br>
            <a:r>
              <a:rPr sz="1000"/>
              <a:t>const member = await Member.create(req.body);</a:t>
            </a:r>
            <a:br>
              <a:rPr sz="1000"/>
            </a:br>
            <a:r>
              <a:rPr sz="1000"/>
              <a:t>await member.populate('trainerId', 'name specialization');</a:t>
            </a:r>
            <a:br>
              <a:rPr sz="1000"/>
            </a:br>
            <a:r>
              <a:rPr sz="1000"/>
              <a:t>await createNotification({ type: 'NEW_MEMBER', refId: member._id, ... });</a:t>
            </a:r>
            <a:endParaRPr sz="1000"/>
          </a:p>
          <a:p>
            <a:pPr>
              <a:defRPr sz="950">
                <a:solidFill>
                  <a:srgbClr val="1E293B"/>
                </a:solidFill>
              </a:defRPr>
            </a:pPr>
            <a:r>
              <a:rPr sz="1050"/>
              <a:t>Outcome: Auto-generates MEM0001, validates email format, saves to MongoDB, and triggers real-time admin alert.</a:t>
            </a:r>
            <a:endParaRPr sz="1050"/>
          </a:p>
        </p:txBody>
      </p:sp>
      <p:sp>
        <p:nvSpPr>
          <p:cNvPr id="7" name="Rounded Rectangle 6"/>
          <p:cNvSpPr/>
          <p:nvPr/>
        </p:nvSpPr>
        <p:spPr>
          <a:xfrm>
            <a:off x="6217920" y="1051560"/>
            <a:ext cx="5349240"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143000"/>
            <a:ext cx="4983480" cy="1983740"/>
          </a:xfrm>
          <a:prstGeom prst="rect">
            <a:avLst/>
          </a:prstGeom>
          <a:noFill/>
        </p:spPr>
        <p:txBody>
          <a:bodyPr wrap="square">
            <a:spAutoFit/>
          </a:bodyPr>
          <a:lstStyle/>
          <a:p>
            <a:pPr>
              <a:defRPr sz="1200" b="1">
                <a:solidFill>
                  <a:srgbClr val="6366F1"/>
                </a:solidFill>
              </a:defRPr>
            </a:pPr>
            <a:endParaRPr sz="1400"/>
          </a:p>
          <a:p>
            <a:pPr>
              <a:defRPr sz="1200" b="1">
                <a:solidFill>
                  <a:srgbClr val="6366F1"/>
                </a:solidFill>
              </a:defRPr>
            </a:pPr>
            <a:endParaRPr sz="1400"/>
          </a:p>
          <a:p>
            <a:pPr>
              <a:defRPr sz="1200" b="1">
                <a:solidFill>
                  <a:srgbClr val="6366F1"/>
                </a:solidFill>
              </a:defRPr>
            </a:pPr>
            <a:r>
              <a:rPr sz="1400"/>
              <a:t>READ (R): Filtered, Searchable &amp; Paginated Queries</a:t>
            </a:r>
            <a:endParaRPr sz="1400"/>
          </a:p>
          <a:p>
            <a:pPr>
              <a:defRPr sz="900">
                <a:solidFill>
                  <a:srgbClr val="4F46E5"/>
                </a:solidFill>
                <a:latin typeface="Consolas" panose="020B0609020204030204"/>
              </a:defRPr>
            </a:pPr>
            <a:r>
              <a:rPr sz="1000"/>
              <a:t>// memberController.js -&gt; getMembers</a:t>
            </a:r>
            <a:br>
              <a:rPr sz="1000"/>
            </a:br>
            <a:r>
              <a:rPr sz="1000"/>
              <a:t>const [members, total] = await Promise.all([</a:t>
            </a:r>
            <a:br>
              <a:rPr sz="1000"/>
            </a:br>
            <a:r>
              <a:rPr sz="1000"/>
              <a:t>  Member.find(query).populate('trainerId', 'name')</a:t>
            </a:r>
            <a:br>
              <a:rPr sz="1000"/>
            </a:br>
            <a:r>
              <a:rPr sz="1000"/>
              <a:t>    .sort({ createdAt: -1 }).skip(skip).limit(limitNum).lean(),</a:t>
            </a:r>
            <a:br>
              <a:rPr sz="1000"/>
            </a:br>
            <a:r>
              <a:rPr sz="1000"/>
              <a:t>  Member.countDocuments(query)</a:t>
            </a:r>
            <a:br>
              <a:rPr sz="1000"/>
            </a:br>
            <a:r>
              <a:rPr sz="1000"/>
              <a:t>]);</a:t>
            </a:r>
            <a:endParaRPr sz="1000"/>
          </a:p>
          <a:p>
            <a:pPr>
              <a:defRPr sz="950">
                <a:solidFill>
                  <a:srgbClr val="1E293B"/>
                </a:solidFill>
              </a:defRPr>
            </a:pPr>
            <a:r>
              <a:rPr sz="1050"/>
              <a:t>Outcome: Executes $or regex search, joins trainer details via populate, and returns paginated JSON.</a:t>
            </a:r>
            <a:endParaRPr sz="1050"/>
          </a:p>
        </p:txBody>
      </p:sp>
      <p:sp>
        <p:nvSpPr>
          <p:cNvPr id="9" name="Rounded Rectangle 8"/>
          <p:cNvSpPr/>
          <p:nvPr/>
        </p:nvSpPr>
        <p:spPr>
          <a:xfrm>
            <a:off x="594360" y="3749039"/>
            <a:ext cx="5349240"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840480"/>
            <a:ext cx="4983480" cy="2138045"/>
          </a:xfrm>
          <a:prstGeom prst="rect">
            <a:avLst/>
          </a:prstGeom>
          <a:noFill/>
        </p:spPr>
        <p:txBody>
          <a:bodyPr wrap="square">
            <a:spAutoFit/>
          </a:bodyPr>
          <a:lstStyle/>
          <a:p>
            <a:pPr>
              <a:defRPr sz="1200" b="1">
                <a:solidFill>
                  <a:srgbClr val="F59E0B"/>
                </a:solidFill>
              </a:defRPr>
            </a:pPr>
            <a:endParaRPr sz="1400"/>
          </a:p>
          <a:p>
            <a:pPr>
              <a:defRPr sz="1200" b="1">
                <a:solidFill>
                  <a:srgbClr val="F59E0B"/>
                </a:solidFill>
              </a:defRPr>
            </a:pPr>
            <a:endParaRPr sz="1400"/>
          </a:p>
          <a:p>
            <a:pPr>
              <a:defRPr sz="1200" b="1">
                <a:solidFill>
                  <a:srgbClr val="F59E0B"/>
                </a:solidFill>
              </a:defRPr>
            </a:pPr>
            <a:r>
              <a:rPr sz="1400"/>
              <a:t>UPDATE (U): Membership Request Approval Workflow</a:t>
            </a:r>
            <a:endParaRPr sz="1400"/>
          </a:p>
          <a:p>
            <a:pPr>
              <a:defRPr sz="900">
                <a:solidFill>
                  <a:srgbClr val="4F46E5"/>
                </a:solidFill>
                <a:latin typeface="Consolas" panose="020B0609020204030204"/>
              </a:defRPr>
            </a:pPr>
            <a:r>
              <a:rPr sz="1000"/>
              <a:t>// membershipRequestController.js -&gt; approveRequest</a:t>
            </a:r>
            <a:br>
              <a:rPr sz="1000"/>
            </a:br>
            <a:r>
              <a:rPr sz="1000"/>
              <a:t>const req = await MembershipRequest.findByIdAndUpdate(id,</a:t>
            </a:r>
            <a:br>
              <a:rPr sz="1000"/>
            </a:br>
            <a:r>
              <a:rPr sz="1000"/>
              <a:t>  { status: 'Approved', processedAt: new Date(), processedBy: req.user.email },</a:t>
            </a:r>
            <a:br>
              <a:rPr sz="1000"/>
            </a:br>
            <a:r>
              <a:rPr sz="1000"/>
              <a:t>  { new: true }</a:t>
            </a:r>
            <a:br>
              <a:rPr sz="1000"/>
            </a:br>
            <a:r>
              <a:rPr sz="1000"/>
              <a:t>);</a:t>
            </a:r>
            <a:br>
              <a:rPr sz="1000"/>
            </a:br>
            <a:r>
              <a:rPr sz="1000"/>
              <a:t>const sub = await MemberMembership.create({ memberId, ... });</a:t>
            </a:r>
            <a:endParaRPr sz="1000"/>
          </a:p>
          <a:p>
            <a:pPr>
              <a:defRPr sz="950">
                <a:solidFill>
                  <a:srgbClr val="1E293B"/>
                </a:solidFill>
              </a:defRPr>
            </a:pPr>
            <a:r>
              <a:rPr sz="1050"/>
              <a:t>Outcome: Sets request status to Approved, assigns active plan, and dispatches PAYMENT_VERIFIED alert.</a:t>
            </a:r>
            <a:endParaRPr sz="1050"/>
          </a:p>
        </p:txBody>
      </p:sp>
      <p:sp>
        <p:nvSpPr>
          <p:cNvPr id="11" name="Rounded Rectangle 10"/>
          <p:cNvSpPr/>
          <p:nvPr/>
        </p:nvSpPr>
        <p:spPr>
          <a:xfrm>
            <a:off x="6217920" y="3749039"/>
            <a:ext cx="5349240"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840480"/>
            <a:ext cx="4983480" cy="2138045"/>
          </a:xfrm>
          <a:prstGeom prst="rect">
            <a:avLst/>
          </a:prstGeom>
          <a:noFill/>
        </p:spPr>
        <p:txBody>
          <a:bodyPr wrap="square">
            <a:spAutoFit/>
          </a:bodyPr>
          <a:lstStyle/>
          <a:p>
            <a:pPr>
              <a:defRPr sz="1200" b="1">
                <a:solidFill>
                  <a:srgbClr val="EF4444"/>
                </a:solidFill>
              </a:defRPr>
            </a:pPr>
            <a:endParaRPr sz="1400"/>
          </a:p>
          <a:p>
            <a:pPr>
              <a:defRPr sz="1200" b="1">
                <a:solidFill>
                  <a:srgbClr val="EF4444"/>
                </a:solidFill>
              </a:defRPr>
            </a:pPr>
            <a:endParaRPr sz="1400"/>
          </a:p>
          <a:p>
            <a:pPr>
              <a:defRPr sz="1200" b="1">
                <a:solidFill>
                  <a:srgbClr val="EF4444"/>
                </a:solidFill>
              </a:defRPr>
            </a:pPr>
            <a:r>
              <a:rPr sz="1400"/>
              <a:t>DELETE (D): Trainer Deletion with Referential Clean</a:t>
            </a:r>
            <a:endParaRPr sz="1400"/>
          </a:p>
          <a:p>
            <a:pPr>
              <a:defRPr sz="900">
                <a:solidFill>
                  <a:srgbClr val="4F46E5"/>
                </a:solidFill>
                <a:latin typeface="Consolas" panose="020B0609020204030204"/>
              </a:defRPr>
            </a:pPr>
            <a:r>
              <a:rPr sz="1000"/>
              <a:t>// trainerController.js -&gt; deleteTrainer</a:t>
            </a:r>
            <a:br>
              <a:rPr sz="1000"/>
            </a:br>
            <a:r>
              <a:rPr sz="1000"/>
              <a:t>const trainer = await Trainer.findByIdAndDelete(req.params.id);</a:t>
            </a:r>
            <a:br>
              <a:rPr sz="1000"/>
            </a:br>
            <a:r>
              <a:rPr sz="1000"/>
              <a:t>// Unassign trainer from all members to prevent dangling pointers</a:t>
            </a:r>
            <a:br>
              <a:rPr sz="1000"/>
            </a:br>
            <a:r>
              <a:rPr sz="1000"/>
              <a:t>await Member.updateMany(</a:t>
            </a:r>
            <a:br>
              <a:rPr sz="1000"/>
            </a:br>
            <a:r>
              <a:rPr sz="1000"/>
              <a:t>  { trainerId: req.params.id },</a:t>
            </a:r>
            <a:br>
              <a:rPr sz="1000"/>
            </a:br>
            <a:r>
              <a:rPr sz="1000"/>
              <a:t>  { $set: { trainerId: null } }</a:t>
            </a:r>
            <a:br>
              <a:rPr sz="1000"/>
            </a:br>
            <a:r>
              <a:rPr sz="1000"/>
              <a:t>);</a:t>
            </a:r>
            <a:endParaRPr sz="1000"/>
          </a:p>
          <a:p>
            <a:pPr>
              <a:defRPr sz="950">
                <a:solidFill>
                  <a:srgbClr val="1E293B"/>
                </a:solidFill>
              </a:defRPr>
            </a:pPr>
            <a:r>
              <a:rPr sz="1050"/>
              <a:t>Outcome: Removes trainer document and cascades null assignment across member records atomically.</a:t>
            </a:r>
            <a:endParaRPr sz="10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8961120" cy="594360"/>
          </a:xfrm>
          <a:prstGeom prst="rect">
            <a:avLst/>
          </a:prstGeom>
          <a:noFill/>
        </p:spPr>
        <p:txBody>
          <a:bodyPr wrap="square" lIns="0" tIns="0" rIns="0" bIns="0">
            <a:spAutoFit/>
          </a:bodyPr>
          <a:lstStyle/>
          <a:p>
            <a:pPr>
              <a:defRPr sz="2200" b="1">
                <a:solidFill>
                  <a:srgbClr val="0F172A"/>
                </a:solidFill>
                <a:latin typeface="Segoe UI" panose="020B0502040204020203"/>
              </a:defRPr>
            </a:pPr>
            <a:r>
              <a:t>8. Queries and Aggregation</a:t>
            </a:r>
          </a:p>
        </p:txBody>
      </p:sp>
      <p:sp>
        <p:nvSpPr>
          <p:cNvPr id="4" name="Rounded Rectangle 3"/>
          <p:cNvSpPr/>
          <p:nvPr/>
        </p:nvSpPr>
        <p:spPr>
          <a:xfrm>
            <a:off x="9692640" y="384048"/>
            <a:ext cx="1874519" cy="329184"/>
          </a:xfrm>
          <a:prstGeom prst="roundRect">
            <a:avLst/>
          </a:prstGeom>
          <a:solidFill>
            <a:srgbClr val="D1FAE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59669"/>
                </a:solidFill>
                <a:latin typeface="Segoe UI" panose="020B0502040204020203"/>
              </a:defRPr>
            </a:pPr>
            <a:r>
              <a:t>Data Aggregation</a:t>
            </a:r>
          </a:p>
        </p:txBody>
      </p:sp>
      <p:sp>
        <p:nvSpPr>
          <p:cNvPr id="5" name="Rounded Rectangle 4"/>
          <p:cNvSpPr/>
          <p:nvPr/>
        </p:nvSpPr>
        <p:spPr>
          <a:xfrm>
            <a:off x="594360" y="1051560"/>
            <a:ext cx="562356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188720"/>
            <a:ext cx="5257800" cy="4902200"/>
          </a:xfrm>
          <a:prstGeom prst="rect">
            <a:avLst/>
          </a:prstGeom>
          <a:noFill/>
        </p:spPr>
        <p:txBody>
          <a:bodyPr wrap="square">
            <a:spAutoFit/>
          </a:bodyPr>
          <a:lstStyle/>
          <a:p>
            <a:pPr>
              <a:spcAft>
                <a:spcPts val="400"/>
              </a:spcAft>
              <a:defRPr sz="1300" b="1">
                <a:solidFill>
                  <a:srgbClr val="0F172A"/>
                </a:solidFill>
              </a:defRPr>
            </a:pPr>
            <a:endParaRPr sz="1400"/>
          </a:p>
          <a:p>
            <a:pPr marL="457200" lvl="1" indent="457200">
              <a:spcAft>
                <a:spcPts val="400"/>
              </a:spcAft>
              <a:defRPr sz="1300" b="1">
                <a:solidFill>
                  <a:srgbClr val="0F172A"/>
                </a:solidFill>
              </a:defRPr>
            </a:pPr>
            <a:r>
              <a:rPr sz="1400"/>
              <a:t>Pipeline 1: Revenue by Membership Plan</a:t>
            </a:r>
            <a:endParaRPr sz="1400"/>
          </a:p>
          <a:p>
            <a:pPr marL="457200" lvl="1" indent="457200">
              <a:spcAft>
                <a:spcPts val="400"/>
              </a:spcAft>
              <a:defRPr sz="1300" b="1">
                <a:solidFill>
                  <a:srgbClr val="0F172A"/>
                </a:solidFill>
              </a:defRPr>
            </a:pPr>
            <a:endParaRPr sz="1400"/>
          </a:p>
          <a:p>
            <a:pPr>
              <a:defRPr sz="850">
                <a:solidFill>
                  <a:srgbClr val="4F46E5"/>
                </a:solidFill>
                <a:latin typeface="Consolas" panose="020B0609020204030204"/>
              </a:defRPr>
            </a:pPr>
            <a:r>
              <a:rPr sz="950"/>
              <a:t>// dashboardController.js -&gt; getRevenueByPlan</a:t>
            </a:r>
            <a:br>
              <a:rPr sz="950"/>
            </a:br>
            <a:r>
              <a:rPr sz="950"/>
              <a:t>const result = await MemberMembership.aggregate([</a:t>
            </a:r>
            <a:br>
              <a:rPr sz="950"/>
            </a:br>
            <a:r>
              <a:rPr sz="950"/>
              <a:t>  // Stage 1: Filter paid and partial subscriptions</a:t>
            </a:r>
            <a:br>
              <a:rPr sz="950"/>
            </a:br>
            <a:r>
              <a:rPr sz="950"/>
              <a:t>  { $match: { paymentStatus: { $in: ['Paid', 'Partial'] } } },</a:t>
            </a:r>
            <a:br>
              <a:rPr sz="950"/>
            </a:br>
            <a:r>
              <a:rPr sz="950"/>
              <a:t>  // Stage 2: Join with master memberships collection</a:t>
            </a:r>
            <a:br>
              <a:rPr sz="950"/>
            </a:br>
            <a:r>
              <a:rPr sz="950"/>
              <a:t>  { $lookup: { from: 'memberships', localField: 'membershipId',</a:t>
            </a:r>
            <a:br>
              <a:rPr sz="950"/>
            </a:br>
            <a:r>
              <a:rPr sz="950"/>
              <a:t>              foreignField: '_id', as: 'plan' } },</a:t>
            </a:r>
            <a:br>
              <a:rPr sz="950"/>
            </a:br>
            <a:r>
              <a:rPr sz="950"/>
              <a:t>  // Stage 3: Deconstruct joined plan array</a:t>
            </a:r>
            <a:br>
              <a:rPr sz="950"/>
            </a:br>
            <a:r>
              <a:rPr sz="950"/>
              <a:t>  { $unwind: '$plan' },</a:t>
            </a:r>
            <a:br>
              <a:rPr sz="950"/>
            </a:br>
            <a:r>
              <a:rPr sz="950"/>
              <a:t>  // Stage 4: Group by plan and compute revenue metrics</a:t>
            </a:r>
            <a:br>
              <a:rPr sz="950"/>
            </a:br>
            <a:r>
              <a:rPr sz="950"/>
              <a:t>  { $group: {</a:t>
            </a:r>
            <a:br>
              <a:rPr sz="950"/>
            </a:br>
            <a:r>
              <a:rPr sz="950"/>
              <a:t>      _id: '$plan._id',</a:t>
            </a:r>
            <a:br>
              <a:rPr sz="950"/>
            </a:br>
            <a:r>
              <a:rPr sz="950"/>
              <a:t>      planName: { $first: '$plan.planName' },</a:t>
            </a:r>
            <a:br>
              <a:rPr sz="950"/>
            </a:br>
            <a:r>
              <a:rPr sz="950"/>
              <a:t>      totalRevenue: { $sum: '$amountPaid' },</a:t>
            </a:r>
            <a:br>
              <a:rPr sz="950"/>
            </a:br>
            <a:r>
              <a:rPr sz="950"/>
              <a:t>      totalMembers: { $sum: 1 },</a:t>
            </a:r>
            <a:br>
              <a:rPr sz="950"/>
            </a:br>
            <a:r>
              <a:rPr sz="950"/>
              <a:t>      avgAmount: { $avg: '$amountPaid' }</a:t>
            </a:r>
            <a:br>
              <a:rPr sz="950"/>
            </a:br>
            <a:r>
              <a:rPr sz="950"/>
              <a:t>  } },</a:t>
            </a:r>
            <a:br>
              <a:rPr sz="950"/>
            </a:br>
            <a:r>
              <a:rPr sz="950"/>
              <a:t>  // Stage 5: Sort by revenue descending</a:t>
            </a:r>
            <a:br>
              <a:rPr sz="950"/>
            </a:br>
            <a:r>
              <a:rPr sz="950"/>
              <a:t>  { $sort: { totalRevenue: -1 } }</a:t>
            </a:r>
            <a:br>
              <a:rPr sz="950"/>
            </a:br>
            <a:r>
              <a:rPr sz="950"/>
              <a:t>]);</a:t>
            </a:r>
            <a:endParaRPr sz="950"/>
          </a:p>
          <a:p>
            <a:pPr>
              <a:lnSpc>
                <a:spcPct val="115000"/>
              </a:lnSpc>
              <a:spcAft>
                <a:spcPts val="200"/>
              </a:spcAft>
            </a:pPr>
            <a:r>
              <a:rPr sz="1200" b="1">
                <a:solidFill>
                  <a:srgbClr val="10B981"/>
                </a:solidFill>
              </a:rPr>
              <a:t>• </a:t>
            </a:r>
            <a:r>
              <a:rPr sz="1200" b="1">
                <a:solidFill>
                  <a:srgbClr val="0F172A"/>
                </a:solidFill>
                <a:latin typeface="Segoe UI" panose="020B0502040204020203"/>
              </a:rPr>
              <a:t>Business Insight: </a:t>
            </a:r>
            <a:r>
              <a:rPr sz="1200" b="0">
                <a:solidFill>
                  <a:srgbClr val="1E293B"/>
                </a:solidFill>
                <a:latin typeface="Segoe UI" panose="020B0502040204020203"/>
              </a:rPr>
              <a:t>Computes total earnings per plan tier directly inside MongoDB, powering the Revenue Chart on the Admin Dashboard without client overhead.</a:t>
            </a:r>
            <a:endParaRPr sz="1200" b="0">
              <a:solidFill>
                <a:srgbClr val="1E293B"/>
              </a:solidFill>
              <a:latin typeface="Segoe UI" panose="020B0502040204020203"/>
            </a:endParaRPr>
          </a:p>
          <a:p>
            <a:pPr>
              <a:lnSpc>
                <a:spcPct val="115000"/>
              </a:lnSpc>
              <a:spcAft>
                <a:spcPts val="200"/>
              </a:spcAft>
            </a:pPr>
            <a:r>
              <a:rPr sz="1200" b="1">
                <a:solidFill>
                  <a:srgbClr val="10B981"/>
                </a:solidFill>
              </a:rPr>
              <a:t>• </a:t>
            </a:r>
            <a:r>
              <a:rPr sz="1200" b="1">
                <a:solidFill>
                  <a:srgbClr val="0F172A"/>
                </a:solidFill>
                <a:latin typeface="Segoe UI" panose="020B0502040204020203"/>
              </a:rPr>
              <a:t>Performance: </a:t>
            </a:r>
            <a:r>
              <a:rPr sz="1200" b="0">
                <a:solidFill>
                  <a:srgbClr val="1E293B"/>
                </a:solidFill>
                <a:latin typeface="Segoe UI" panose="020B0502040204020203"/>
              </a:rPr>
              <a:t>Indexed $match ensures only relevant documents enter subsequent memory-intensive $lookup and $group stages.</a:t>
            </a:r>
            <a:endParaRPr sz="1200" b="0">
              <a:solidFill>
                <a:srgbClr val="1E293B"/>
              </a:solidFill>
              <a:latin typeface="Segoe UI" panose="020B0502040204020203"/>
            </a:endParaRPr>
          </a:p>
        </p:txBody>
      </p:sp>
      <p:sp>
        <p:nvSpPr>
          <p:cNvPr id="7" name="Rounded Rectangle 6"/>
          <p:cNvSpPr/>
          <p:nvPr/>
        </p:nvSpPr>
        <p:spPr>
          <a:xfrm>
            <a:off x="6446520" y="1051560"/>
            <a:ext cx="516636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29400" y="1188720"/>
            <a:ext cx="4800600" cy="4646930"/>
          </a:xfrm>
          <a:prstGeom prst="rect">
            <a:avLst/>
          </a:prstGeom>
          <a:noFill/>
        </p:spPr>
        <p:txBody>
          <a:bodyPr wrap="square">
            <a:spAutoFit/>
          </a:bodyPr>
          <a:lstStyle/>
          <a:p>
            <a:pPr>
              <a:spcAft>
                <a:spcPts val="400"/>
              </a:spcAft>
              <a:defRPr sz="1300" b="1">
                <a:solidFill>
                  <a:srgbClr val="059669"/>
                </a:solidFill>
              </a:defRPr>
            </a:pPr>
            <a:endParaRPr sz="1400"/>
          </a:p>
          <a:p>
            <a:pPr indent="457200">
              <a:spcAft>
                <a:spcPts val="400"/>
              </a:spcAft>
              <a:defRPr sz="1300" b="1">
                <a:solidFill>
                  <a:srgbClr val="059669"/>
                </a:solidFill>
              </a:defRPr>
            </a:pPr>
            <a:r>
              <a:rPr sz="1400"/>
              <a:t>Additional Pipelines &amp; Query Patterns</a:t>
            </a:r>
            <a:endParaRPr sz="1400"/>
          </a:p>
          <a:p>
            <a:pPr indent="457200">
              <a:spcAft>
                <a:spcPts val="400"/>
              </a:spcAft>
              <a:defRPr sz="1300" b="1">
                <a:solidFill>
                  <a:srgbClr val="059669"/>
                </a:solidFill>
              </a:defRPr>
            </a:pPr>
            <a:endParaRPr sz="1400"/>
          </a:p>
          <a:p>
            <a:pPr>
              <a:defRPr sz="850">
                <a:solidFill>
                  <a:srgbClr val="4F46E5"/>
                </a:solidFill>
                <a:latin typeface="Consolas" panose="020B0609020204030204"/>
              </a:defRPr>
            </a:pPr>
            <a:r>
              <a:rPr sz="950"/>
              <a:t>// Pipeline 2: 12-Month Rolling Revenue Trend</a:t>
            </a:r>
            <a:br>
              <a:rPr sz="950"/>
            </a:br>
            <a:r>
              <a:rPr sz="950"/>
              <a:t>MemberMembership.aggregate([</a:t>
            </a:r>
            <a:br>
              <a:rPr sz="950"/>
            </a:br>
            <a:r>
              <a:rPr sz="950"/>
              <a:t>  { $match: { paymentStatus: { $in: ['Paid', 'Partial'] } } },</a:t>
            </a:r>
            <a:br>
              <a:rPr sz="950"/>
            </a:br>
            <a:r>
              <a:rPr sz="950"/>
              <a:t>  { $group: {</a:t>
            </a:r>
            <a:br>
              <a:rPr sz="950"/>
            </a:br>
            <a:r>
              <a:rPr sz="950"/>
              <a:t>      _id: { year: { $year: '$createdAt' }, month: { $month: '$createdAt' } },</a:t>
            </a:r>
            <a:br>
              <a:rPr sz="950"/>
            </a:br>
            <a:r>
              <a:rPr sz="950"/>
              <a:t>      revenue: { $sum: '$amountPaid' }, count: { $sum: 1 }</a:t>
            </a:r>
            <a:br>
              <a:rPr sz="950"/>
            </a:br>
            <a:r>
              <a:rPr sz="950"/>
              <a:t>  } },</a:t>
            </a:r>
            <a:br>
              <a:rPr sz="950"/>
            </a:br>
            <a:r>
              <a:rPr sz="950"/>
              <a:t>  { $project: {</a:t>
            </a:r>
            <a:br>
              <a:rPr sz="950"/>
            </a:br>
            <a:r>
              <a:rPr sz="950"/>
              <a:t>      month: { $dateToString: { format: '%Y-%m', date: '$createdAt' } },</a:t>
            </a:r>
            <a:br>
              <a:rPr sz="950"/>
            </a:br>
            <a:r>
              <a:rPr sz="950"/>
              <a:t>      revenue: 1, _id: 0</a:t>
            </a:r>
            <a:br>
              <a:rPr sz="950"/>
            </a:br>
            <a:r>
              <a:rPr sz="950"/>
              <a:t>  } },</a:t>
            </a:r>
            <a:br>
              <a:rPr sz="950"/>
            </a:br>
            <a:r>
              <a:rPr sz="950"/>
              <a:t>  { $sort: { month: 1 } }, { $limit: 12 }</a:t>
            </a:r>
            <a:br>
              <a:rPr sz="950"/>
            </a:br>
            <a:r>
              <a:rPr sz="950"/>
              <a:t>]);</a:t>
            </a:r>
            <a:endParaRPr sz="950"/>
          </a:p>
          <a:p>
            <a:pPr>
              <a:lnSpc>
                <a:spcPct val="115000"/>
              </a:lnSpc>
              <a:spcAft>
                <a:spcPts val="300"/>
              </a:spcAft>
            </a:pPr>
            <a:r>
              <a:rPr sz="1200" b="1">
                <a:solidFill>
                  <a:srgbClr val="10B981"/>
                </a:solidFill>
              </a:rPr>
              <a:t>• </a:t>
            </a:r>
            <a:r>
              <a:rPr sz="1200" b="1">
                <a:solidFill>
                  <a:srgbClr val="0F172A"/>
                </a:solidFill>
                <a:latin typeface="Segoe UI" panose="020B0502040204020203"/>
              </a:rPr>
              <a:t>Date Projection: </a:t>
            </a:r>
            <a:r>
              <a:rPr sz="1200" b="0">
                <a:solidFill>
                  <a:srgbClr val="1E293B"/>
                </a:solidFill>
                <a:latin typeface="Segoe UI" panose="020B0502040204020203"/>
              </a:rPr>
              <a:t>Uses $dateToString to generate human-readable 'YYYY-MM' format for Recharts visualization.</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Filter &amp; Range Query: </a:t>
            </a:r>
            <a:r>
              <a:rPr sz="1200" b="0">
                <a:solidFill>
                  <a:srgbClr val="1E293B"/>
                </a:solidFill>
                <a:latin typeface="Segoe UI" panose="020B0502040204020203"/>
              </a:rPr>
              <a:t>MemberMembership.find({ status: 'Active', expiryDate: { $gte: now, $lte: thirtyDays } }) powers the 'Expiring in 7 Days' alert card.</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Members per Trainer: </a:t>
            </a:r>
            <a:r>
              <a:rPr sz="1200" b="0">
                <a:solidFill>
                  <a:srgbClr val="1E293B"/>
                </a:solidFill>
                <a:latin typeface="Segoe UI" panose="020B0502040204020203"/>
              </a:rPr>
              <a:t>$group by trainerId with $lookup to calculate trainer caseload dynamically.</a:t>
            </a:r>
            <a:endParaRPr sz="1200" b="0">
              <a:solidFill>
                <a:srgbClr val="1E293B"/>
              </a:solidFill>
              <a:latin typeface="Segoe UI" panose="020B0502040204020203"/>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8961120" cy="594360"/>
          </a:xfrm>
          <a:prstGeom prst="rect">
            <a:avLst/>
          </a:prstGeom>
          <a:noFill/>
        </p:spPr>
        <p:txBody>
          <a:bodyPr wrap="square" lIns="0" tIns="0" rIns="0" bIns="0">
            <a:spAutoFit/>
          </a:bodyPr>
          <a:lstStyle/>
          <a:p>
            <a:pPr>
              <a:defRPr sz="2200" b="1">
                <a:solidFill>
                  <a:srgbClr val="0F172A"/>
                </a:solidFill>
                <a:latin typeface="Segoe UI" panose="020B0502040204020203"/>
              </a:defRPr>
            </a:pPr>
            <a:r>
              <a:t>9. User Interface and Live Demonstration</a:t>
            </a:r>
          </a:p>
        </p:txBody>
      </p:sp>
      <p:sp>
        <p:nvSpPr>
          <p:cNvPr id="4" name="Rounded Rectangle 3"/>
          <p:cNvSpPr/>
          <p:nvPr/>
        </p:nvSpPr>
        <p:spPr>
          <a:xfrm>
            <a:off x="9692640" y="384048"/>
            <a:ext cx="1874519" cy="329184"/>
          </a:xfrm>
          <a:prstGeom prst="roundRect">
            <a:avLst/>
          </a:prstGeom>
          <a:solidFill>
            <a:srgbClr val="D1FAE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59669"/>
                </a:solidFill>
                <a:latin typeface="Segoe UI" panose="020B0502040204020203"/>
              </a:defRPr>
            </a:pPr>
            <a:r>
              <a:t>Working Application UI</a:t>
            </a:r>
          </a:p>
        </p:txBody>
      </p:sp>
      <p:sp>
        <p:nvSpPr>
          <p:cNvPr id="5" name="Rounded Rectangle 4"/>
          <p:cNvSpPr/>
          <p:nvPr/>
        </p:nvSpPr>
        <p:spPr>
          <a:xfrm>
            <a:off x="594360" y="1219200"/>
            <a:ext cx="530352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 (427).png"/>
          <p:cNvPicPr>
            <a:picLocks noChangeAspect="1"/>
          </p:cNvPicPr>
          <p:nvPr/>
        </p:nvPicPr>
        <p:blipFill>
          <a:blip r:embed="rId1"/>
          <a:stretch>
            <a:fillRect/>
          </a:stretch>
        </p:blipFill>
        <p:spPr>
          <a:xfrm>
            <a:off x="777240" y="1311910"/>
            <a:ext cx="4803775" cy="2240280"/>
          </a:xfrm>
          <a:prstGeom prst="rect">
            <a:avLst/>
          </a:prstGeom>
        </p:spPr>
      </p:pic>
      <p:sp>
        <p:nvSpPr>
          <p:cNvPr id="7" name="Rounded Rectangle 6"/>
          <p:cNvSpPr/>
          <p:nvPr/>
        </p:nvSpPr>
        <p:spPr>
          <a:xfrm>
            <a:off x="6217920" y="1219200"/>
            <a:ext cx="530352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reenshot (436).png"/>
          <p:cNvPicPr>
            <a:picLocks noChangeAspect="1"/>
          </p:cNvPicPr>
          <p:nvPr/>
        </p:nvPicPr>
        <p:blipFill>
          <a:blip r:embed="rId2"/>
          <a:stretch>
            <a:fillRect/>
          </a:stretch>
        </p:blipFill>
        <p:spPr>
          <a:xfrm>
            <a:off x="6492240" y="1311910"/>
            <a:ext cx="4804410" cy="2240280"/>
          </a:xfrm>
          <a:prstGeom prst="rect">
            <a:avLst/>
          </a:prstGeom>
        </p:spPr>
      </p:pic>
      <p:sp>
        <p:nvSpPr>
          <p:cNvPr id="9" name="Rounded Rectangle 8"/>
          <p:cNvSpPr/>
          <p:nvPr/>
        </p:nvSpPr>
        <p:spPr>
          <a:xfrm>
            <a:off x="594360" y="4216400"/>
            <a:ext cx="530352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creenshot (433).png"/>
          <p:cNvPicPr>
            <a:picLocks noChangeAspect="1"/>
          </p:cNvPicPr>
          <p:nvPr/>
        </p:nvPicPr>
        <p:blipFill>
          <a:blip r:embed="rId3"/>
          <a:srcRect l="-3571" t="8163" r="3571" b="-8163"/>
          <a:stretch>
            <a:fillRect/>
          </a:stretch>
        </p:blipFill>
        <p:spPr>
          <a:xfrm>
            <a:off x="594360" y="4399279"/>
            <a:ext cx="5120640" cy="2240280"/>
          </a:xfrm>
          <a:prstGeom prst="rect">
            <a:avLst/>
          </a:prstGeom>
          <a:effectLst>
            <a:outerShdw blurRad="50800" dist="38100" dir="2700000" algn="tl" rotWithShape="0">
              <a:prstClr val="black">
                <a:alpha val="40000"/>
              </a:prstClr>
            </a:outerShdw>
          </a:effectLst>
        </p:spPr>
      </p:pic>
      <p:sp>
        <p:nvSpPr>
          <p:cNvPr id="11" name="Rounded Rectangle 10"/>
          <p:cNvSpPr/>
          <p:nvPr/>
        </p:nvSpPr>
        <p:spPr>
          <a:xfrm>
            <a:off x="6309360" y="4216400"/>
            <a:ext cx="530352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creenshot (434).png"/>
          <p:cNvPicPr>
            <a:picLocks noChangeAspect="1"/>
          </p:cNvPicPr>
          <p:nvPr/>
        </p:nvPicPr>
        <p:blipFill>
          <a:blip r:embed="rId4"/>
          <a:stretch>
            <a:fillRect/>
          </a:stretch>
        </p:blipFill>
        <p:spPr>
          <a:xfrm>
            <a:off x="6492240" y="4399280"/>
            <a:ext cx="4938395" cy="2071370"/>
          </a:xfrm>
          <a:prstGeom prst="rect">
            <a:avLst/>
          </a:prstGeom>
        </p:spPr>
      </p:pic>
      <p:sp>
        <p:nvSpPr>
          <p:cNvPr id="13" name="Rounded Rectangle 12"/>
          <p:cNvSpPr/>
          <p:nvPr/>
        </p:nvSpPr>
        <p:spPr>
          <a:xfrm>
            <a:off x="914400" y="783590"/>
            <a:ext cx="2286000" cy="292608"/>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950" b="1">
                <a:solidFill>
                  <a:srgbClr val="FFFFFF"/>
                </a:solidFill>
              </a:defRPr>
            </a:pPr>
            <a:r>
              <a:t>Admin Dashboard (Live KPIs)</a:t>
            </a:r>
          </a:p>
        </p:txBody>
      </p:sp>
      <p:sp>
        <p:nvSpPr>
          <p:cNvPr id="14" name="Rounded Rectangle 13"/>
          <p:cNvSpPr/>
          <p:nvPr/>
        </p:nvSpPr>
        <p:spPr>
          <a:xfrm>
            <a:off x="6592570" y="789940"/>
            <a:ext cx="2377440" cy="29260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950" b="1">
                <a:solidFill>
                  <a:srgbClr val="FFFFFF"/>
                </a:solidFill>
              </a:defRPr>
            </a:pPr>
            <a:r>
              <a:t>Member Self-Service Portal</a:t>
            </a:r>
          </a:p>
        </p:txBody>
      </p:sp>
      <p:sp>
        <p:nvSpPr>
          <p:cNvPr id="15" name="Rounded Rectangle 14"/>
          <p:cNvSpPr/>
          <p:nvPr/>
        </p:nvSpPr>
        <p:spPr>
          <a:xfrm>
            <a:off x="777240" y="3744595"/>
            <a:ext cx="2560320" cy="292608"/>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950" b="1">
                <a:solidFill>
                  <a:srgbClr val="FFFFFF"/>
                </a:solidFill>
              </a:defRPr>
            </a:pPr>
            <a:r>
              <a:t>Socket.IO Notification Engine</a:t>
            </a:r>
          </a:p>
        </p:txBody>
      </p:sp>
      <p:sp>
        <p:nvSpPr>
          <p:cNvPr id="16" name="Rounded Rectangle 15"/>
          <p:cNvSpPr/>
          <p:nvPr/>
        </p:nvSpPr>
        <p:spPr>
          <a:xfrm>
            <a:off x="6400800" y="3698875"/>
            <a:ext cx="2286000" cy="29260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950" b="1">
                <a:solidFill>
                  <a:srgbClr val="FFFFFF"/>
                </a:solidFill>
              </a:defRPr>
            </a:pPr>
            <a:r>
              <a:t>FitAI Assistant (OpenRouter)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8961120" cy="594360"/>
          </a:xfrm>
          <a:prstGeom prst="rect">
            <a:avLst/>
          </a:prstGeom>
          <a:noFill/>
        </p:spPr>
        <p:txBody>
          <a:bodyPr wrap="square" lIns="0" tIns="0" rIns="0" bIns="0">
            <a:spAutoFit/>
          </a:bodyPr>
          <a:lstStyle/>
          <a:p>
            <a:pPr>
              <a:defRPr sz="2200" b="1">
                <a:solidFill>
                  <a:srgbClr val="0F172A"/>
                </a:solidFill>
                <a:latin typeface="Segoe UI" panose="020B0502040204020203"/>
              </a:defRPr>
            </a:pPr>
            <a:r>
              <a:t>10. Testing and Results</a:t>
            </a:r>
          </a:p>
        </p:txBody>
      </p:sp>
      <p:sp>
        <p:nvSpPr>
          <p:cNvPr id="4" name="Rounded Rectangle 3"/>
          <p:cNvSpPr/>
          <p:nvPr/>
        </p:nvSpPr>
        <p:spPr>
          <a:xfrm>
            <a:off x="9692640" y="384048"/>
            <a:ext cx="1874519" cy="329184"/>
          </a:xfrm>
          <a:prstGeom prst="roundRect">
            <a:avLst/>
          </a:prstGeom>
          <a:solidFill>
            <a:srgbClr val="D1FAE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59669"/>
                </a:solidFill>
                <a:latin typeface="Segoe UI" panose="020B0502040204020203"/>
              </a:defRPr>
            </a:pPr>
            <a:r>
              <a:t>Verification Matrix</a:t>
            </a:r>
          </a:p>
        </p:txBody>
      </p:sp>
      <p:sp>
        <p:nvSpPr>
          <p:cNvPr id="5" name="Rounded Rectangle 4"/>
          <p:cNvSpPr/>
          <p:nvPr/>
        </p:nvSpPr>
        <p:spPr>
          <a:xfrm>
            <a:off x="594360" y="874395"/>
            <a:ext cx="11018520" cy="567309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143000"/>
            <a:ext cx="3780155" cy="337185"/>
          </a:xfrm>
          <a:prstGeom prst="rect">
            <a:avLst/>
          </a:prstGeom>
          <a:noFill/>
        </p:spPr>
        <p:txBody>
          <a:bodyPr wrap="none">
            <a:spAutoFit/>
          </a:bodyPr>
          <a:lstStyle/>
          <a:p>
            <a:pPr>
              <a:defRPr sz="1300" b="1">
                <a:solidFill>
                  <a:srgbClr val="0F172A"/>
                </a:solidFill>
              </a:defRPr>
            </a:pPr>
            <a:r>
              <a:rPr lang="en-US" sz="1600"/>
              <a:t>   	</a:t>
            </a:r>
            <a:r>
              <a:rPr sz="1600"/>
              <a:t>Verified End-to-End System Test Suite</a:t>
            </a:r>
            <a:endParaRPr sz="1600"/>
          </a:p>
        </p:txBody>
      </p:sp>
      <p:graphicFrame>
        <p:nvGraphicFramePr>
          <p:cNvPr id="7" name="Table 6"/>
          <p:cNvGraphicFramePr>
            <a:graphicFrameLocks noGrp="1"/>
          </p:cNvGraphicFramePr>
          <p:nvPr/>
        </p:nvGraphicFramePr>
        <p:xfrm>
          <a:off x="777240" y="1600200"/>
          <a:ext cx="10652760" cy="3474720"/>
        </p:xfrm>
        <a:graphic>
          <a:graphicData uri="http://schemas.openxmlformats.org/drawingml/2006/table">
            <a:tbl>
              <a:tblPr firstRow="1" bandRow="1">
                <a:tableStyleId>{5C22544A-7EE6-4342-B048-85BDC9FD1C3A}</a:tableStyleId>
              </a:tblPr>
              <a:tblGrid>
                <a:gridCol w="1645920"/>
                <a:gridCol w="2651760"/>
                <a:gridCol w="2926080"/>
                <a:gridCol w="2514600"/>
                <a:gridCol w="914400"/>
              </a:tblGrid>
              <a:tr h="496388">
                <a:tc>
                  <a:txBody>
                    <a:bodyPr/>
                    <a:lstStyle/>
                    <a:p>
                      <a:pPr algn="l">
                        <a:defRPr sz="1000" b="1">
                          <a:solidFill>
                            <a:srgbClr val="FFFFFF"/>
                          </a:solidFill>
                        </a:defRPr>
                      </a:pPr>
                      <a:r>
                        <a:rPr sz="1200"/>
                        <a:t>Test Module</a:t>
                      </a:r>
                      <a:endParaRPr sz="1200"/>
                    </a:p>
                  </a:txBody>
                  <a:tcPr>
                    <a:solidFill>
                      <a:srgbClr val="0F172A"/>
                    </a:solidFill>
                  </a:tcPr>
                </a:tc>
                <a:tc>
                  <a:txBody>
                    <a:bodyPr/>
                    <a:lstStyle/>
                    <a:p>
                      <a:pPr algn="l">
                        <a:defRPr sz="1000" b="1">
                          <a:solidFill>
                            <a:srgbClr val="FFFFFF"/>
                          </a:solidFill>
                        </a:defRPr>
                      </a:pPr>
                      <a:r>
                        <a:rPr sz="1200"/>
                        <a:t>Test Description</a:t>
                      </a:r>
                      <a:endParaRPr sz="1200"/>
                    </a:p>
                  </a:txBody>
                  <a:tcPr>
                    <a:solidFill>
                      <a:srgbClr val="0F172A"/>
                    </a:solidFill>
                  </a:tcPr>
                </a:tc>
                <a:tc>
                  <a:txBody>
                    <a:bodyPr/>
                    <a:lstStyle/>
                    <a:p>
                      <a:pPr algn="l">
                        <a:defRPr sz="1000" b="1">
                          <a:solidFill>
                            <a:srgbClr val="FFFFFF"/>
                          </a:solidFill>
                        </a:defRPr>
                      </a:pPr>
                      <a:r>
                        <a:rPr sz="1200"/>
                        <a:t>Expected Behavior</a:t>
                      </a:r>
                      <a:endParaRPr sz="1200"/>
                    </a:p>
                  </a:txBody>
                  <a:tcPr>
                    <a:solidFill>
                      <a:srgbClr val="0F172A"/>
                    </a:solidFill>
                  </a:tcPr>
                </a:tc>
                <a:tc>
                  <a:txBody>
                    <a:bodyPr/>
                    <a:lstStyle/>
                    <a:p>
                      <a:pPr algn="l">
                        <a:defRPr sz="1000" b="1">
                          <a:solidFill>
                            <a:srgbClr val="FFFFFF"/>
                          </a:solidFill>
                        </a:defRPr>
                      </a:pPr>
                      <a:r>
                        <a:rPr sz="1200"/>
                        <a:t>Actual Verified Result</a:t>
                      </a:r>
                      <a:endParaRPr sz="1200"/>
                    </a:p>
                  </a:txBody>
                  <a:tcPr>
                    <a:solidFill>
                      <a:srgbClr val="0F172A"/>
                    </a:solidFill>
                  </a:tcPr>
                </a:tc>
                <a:tc>
                  <a:txBody>
                    <a:bodyPr/>
                    <a:lstStyle/>
                    <a:p>
                      <a:pPr algn="ctr">
                        <a:defRPr sz="1000" b="1">
                          <a:solidFill>
                            <a:srgbClr val="FFFFFF"/>
                          </a:solidFill>
                        </a:defRPr>
                      </a:pPr>
                      <a:r>
                        <a:rPr sz="1200"/>
                        <a:t>Status</a:t>
                      </a:r>
                      <a:endParaRPr sz="1200"/>
                    </a:p>
                  </a:txBody>
                  <a:tcPr>
                    <a:solidFill>
                      <a:srgbClr val="0F172A"/>
                    </a:solidFill>
                  </a:tcPr>
                </a:tc>
              </a:tr>
              <a:tr h="496388">
                <a:tc>
                  <a:txBody>
                    <a:bodyPr/>
                    <a:lstStyle/>
                    <a:p>
                      <a:pPr>
                        <a:defRPr sz="900" b="1">
                          <a:solidFill>
                            <a:srgbClr val="0F172A"/>
                          </a:solidFill>
                        </a:defRPr>
                      </a:pPr>
                      <a:r>
                        <a:rPr sz="1000"/>
                        <a:t>Authentication &amp; RBAC</a:t>
                      </a:r>
                      <a:endParaRPr sz="1000"/>
                    </a:p>
                  </a:txBody>
                  <a:tcPr>
                    <a:solidFill>
                      <a:srgbClr val="FFFFFF"/>
                    </a:solidFill>
                  </a:tcPr>
                </a:tc>
                <a:tc>
                  <a:txBody>
                    <a:bodyPr/>
                    <a:lstStyle/>
                    <a:p>
                      <a:pPr>
                        <a:defRPr sz="900">
                          <a:solidFill>
                            <a:srgbClr val="1E293B"/>
                          </a:solidFill>
                        </a:defRPr>
                      </a:pPr>
                      <a:r>
                        <a:rPr sz="1000"/>
                        <a:t>Login as Admin and Member with role-based JWT validation</a:t>
                      </a:r>
                      <a:endParaRPr sz="1000"/>
                    </a:p>
                  </a:txBody>
                  <a:tcPr>
                    <a:solidFill>
                      <a:srgbClr val="FFFFFF"/>
                    </a:solidFill>
                  </a:tcPr>
                </a:tc>
                <a:tc>
                  <a:txBody>
                    <a:bodyPr/>
                    <a:lstStyle/>
                    <a:p>
                      <a:pPr>
                        <a:defRPr sz="900">
                          <a:solidFill>
                            <a:srgbClr val="1E293B"/>
                          </a:solidFill>
                        </a:defRPr>
                      </a:pPr>
                      <a:r>
                        <a:rPr sz="1000"/>
                        <a:t>Correct portal routed; unauthorized endpoints return 403 Forbidden</a:t>
                      </a:r>
                      <a:endParaRPr sz="1000"/>
                    </a:p>
                  </a:txBody>
                  <a:tcPr>
                    <a:solidFill>
                      <a:srgbClr val="FFFFFF"/>
                    </a:solidFill>
                  </a:tcPr>
                </a:tc>
                <a:tc>
                  <a:txBody>
                    <a:bodyPr/>
                    <a:lstStyle/>
                    <a:p>
                      <a:pPr>
                        <a:defRPr sz="900">
                          <a:solidFill>
                            <a:srgbClr val="1E293B"/>
                          </a:solidFill>
                        </a:defRPr>
                      </a:pPr>
                      <a:r>
                        <a:rPr sz="1000"/>
                        <a:t>Routed to /dashboard vs /member-dashboard; tokens verified</a:t>
                      </a:r>
                      <a:endParaRPr sz="1000"/>
                    </a:p>
                  </a:txBody>
                  <a:tcPr>
                    <a:solidFill>
                      <a:srgbClr val="FFFFFF"/>
                    </a:solidFill>
                  </a:tcPr>
                </a:tc>
                <a:tc>
                  <a:txBody>
                    <a:bodyPr/>
                    <a:lstStyle/>
                    <a:p>
                      <a:pPr algn="ctr">
                        <a:defRPr sz="900" b="1">
                          <a:solidFill>
                            <a:srgbClr val="059669"/>
                          </a:solidFill>
                        </a:defRPr>
                      </a:pPr>
                      <a:r>
                        <a:rPr sz="1000"/>
                        <a:t>PASS</a:t>
                      </a:r>
                      <a:endParaRPr sz="1000"/>
                    </a:p>
                  </a:txBody>
                  <a:tcPr>
                    <a:solidFill>
                      <a:srgbClr val="FFFFFF"/>
                    </a:solidFill>
                  </a:tcPr>
                </a:tc>
              </a:tr>
              <a:tr h="496388">
                <a:tc>
                  <a:txBody>
                    <a:bodyPr/>
                    <a:lstStyle/>
                    <a:p>
                      <a:pPr>
                        <a:defRPr sz="900" b="1">
                          <a:solidFill>
                            <a:srgbClr val="0F172A"/>
                          </a:solidFill>
                        </a:defRPr>
                      </a:pPr>
                      <a:r>
                        <a:rPr sz="1000"/>
                        <a:t>MongoDB Persistence</a:t>
                      </a:r>
                      <a:endParaRPr sz="1000"/>
                    </a:p>
                  </a:txBody>
                  <a:tcPr>
                    <a:solidFill>
                      <a:srgbClr val="F1F5F9"/>
                    </a:solidFill>
                  </a:tcPr>
                </a:tc>
                <a:tc>
                  <a:txBody>
                    <a:bodyPr/>
                    <a:lstStyle/>
                    <a:p>
                      <a:pPr>
                        <a:defRPr sz="900">
                          <a:solidFill>
                            <a:srgbClr val="1E293B"/>
                          </a:solidFill>
                        </a:defRPr>
                      </a:pPr>
                      <a:r>
                        <a:rPr sz="1000"/>
                        <a:t>Create member and verify auto-generated MEM# ID</a:t>
                      </a:r>
                      <a:endParaRPr sz="1000"/>
                    </a:p>
                  </a:txBody>
                  <a:tcPr>
                    <a:solidFill>
                      <a:srgbClr val="F1F5F9"/>
                    </a:solidFill>
                  </a:tcPr>
                </a:tc>
                <a:tc>
                  <a:txBody>
                    <a:bodyPr/>
                    <a:lstStyle/>
                    <a:p>
                      <a:pPr>
                        <a:defRPr sz="900">
                          <a:solidFill>
                            <a:srgbClr val="1E293B"/>
                          </a:solidFill>
                        </a:defRPr>
                      </a:pPr>
                      <a:r>
                        <a:rPr sz="1000"/>
                        <a:t>Document saved in MongoDB members collection with unique MEM#</a:t>
                      </a:r>
                      <a:endParaRPr sz="1000"/>
                    </a:p>
                  </a:txBody>
                  <a:tcPr>
                    <a:solidFill>
                      <a:srgbClr val="F1F5F9"/>
                    </a:solidFill>
                  </a:tcPr>
                </a:tc>
                <a:tc>
                  <a:txBody>
                    <a:bodyPr/>
                    <a:lstStyle/>
                    <a:p>
                      <a:pPr>
                        <a:defRPr sz="900">
                          <a:solidFill>
                            <a:srgbClr val="1E293B"/>
                          </a:solidFill>
                        </a:defRPr>
                      </a:pPr>
                      <a:r>
                        <a:rPr sz="1000"/>
                        <a:t>Saved with MEM0001 to MEM0008 without E11000 collision</a:t>
                      </a:r>
                      <a:endParaRPr sz="1000"/>
                    </a:p>
                  </a:txBody>
                  <a:tcPr>
                    <a:solidFill>
                      <a:srgbClr val="F1F5F9"/>
                    </a:solidFill>
                  </a:tcPr>
                </a:tc>
                <a:tc>
                  <a:txBody>
                    <a:bodyPr/>
                    <a:lstStyle/>
                    <a:p>
                      <a:pPr algn="ctr">
                        <a:defRPr sz="900" b="1">
                          <a:solidFill>
                            <a:srgbClr val="059669"/>
                          </a:solidFill>
                        </a:defRPr>
                      </a:pPr>
                      <a:r>
                        <a:rPr sz="1000"/>
                        <a:t>PASS</a:t>
                      </a:r>
                      <a:endParaRPr sz="1000"/>
                    </a:p>
                  </a:txBody>
                  <a:tcPr>
                    <a:solidFill>
                      <a:srgbClr val="F1F5F9"/>
                    </a:solidFill>
                  </a:tcPr>
                </a:tc>
              </a:tr>
              <a:tr h="496388">
                <a:tc>
                  <a:txBody>
                    <a:bodyPr/>
                    <a:lstStyle/>
                    <a:p>
                      <a:pPr>
                        <a:defRPr sz="900" b="1">
                          <a:solidFill>
                            <a:srgbClr val="0F172A"/>
                          </a:solidFill>
                        </a:defRPr>
                      </a:pPr>
                      <a:r>
                        <a:rPr sz="1000"/>
                        <a:t>Attendance Uniqueness</a:t>
                      </a:r>
                      <a:endParaRPr sz="1000"/>
                    </a:p>
                  </a:txBody>
                  <a:tcPr>
                    <a:solidFill>
                      <a:srgbClr val="FFFFFF"/>
                    </a:solidFill>
                  </a:tcPr>
                </a:tc>
                <a:tc>
                  <a:txBody>
                    <a:bodyPr/>
                    <a:lstStyle/>
                    <a:p>
                      <a:pPr>
                        <a:defRPr sz="900">
                          <a:solidFill>
                            <a:srgbClr val="1E293B"/>
                          </a:solidFill>
                        </a:defRPr>
                      </a:pPr>
                      <a:r>
                        <a:rPr sz="1000"/>
                        <a:t>Mark check-in twice for same member on same calendar date</a:t>
                      </a:r>
                      <a:endParaRPr sz="1000"/>
                    </a:p>
                  </a:txBody>
                  <a:tcPr>
                    <a:solidFill>
                      <a:srgbClr val="FFFFFF"/>
                    </a:solidFill>
                  </a:tcPr>
                </a:tc>
                <a:tc>
                  <a:txBody>
                    <a:bodyPr/>
                    <a:lstStyle/>
                    <a:p>
                      <a:pPr>
                        <a:defRPr sz="900">
                          <a:solidFill>
                            <a:srgbClr val="1E293B"/>
                          </a:solidFill>
                        </a:defRPr>
                      </a:pPr>
                      <a:r>
                        <a:rPr sz="1000"/>
                        <a:t>Prevent duplicate record; compound index triggers error</a:t>
                      </a:r>
                      <a:endParaRPr sz="1000"/>
                    </a:p>
                  </a:txBody>
                  <a:tcPr>
                    <a:solidFill>
                      <a:srgbClr val="FFFFFF"/>
                    </a:solidFill>
                  </a:tcPr>
                </a:tc>
                <a:tc>
                  <a:txBody>
                    <a:bodyPr/>
                    <a:lstStyle/>
                    <a:p>
                      <a:pPr>
                        <a:defRPr sz="900">
                          <a:solidFill>
                            <a:srgbClr val="1E293B"/>
                          </a:solidFill>
                        </a:defRPr>
                      </a:pPr>
                      <a:r>
                        <a:rPr sz="1000"/>
                        <a:t>Index { memberId: 1, date: 1 } rejected duplicate; HTTP 409</a:t>
                      </a:r>
                      <a:endParaRPr sz="1000"/>
                    </a:p>
                  </a:txBody>
                  <a:tcPr>
                    <a:solidFill>
                      <a:srgbClr val="FFFFFF"/>
                    </a:solidFill>
                  </a:tcPr>
                </a:tc>
                <a:tc>
                  <a:txBody>
                    <a:bodyPr/>
                    <a:lstStyle/>
                    <a:p>
                      <a:pPr algn="ctr">
                        <a:defRPr sz="900" b="1">
                          <a:solidFill>
                            <a:srgbClr val="059669"/>
                          </a:solidFill>
                        </a:defRPr>
                      </a:pPr>
                      <a:r>
                        <a:rPr sz="1000"/>
                        <a:t>PASS</a:t>
                      </a:r>
                      <a:endParaRPr sz="1000"/>
                    </a:p>
                  </a:txBody>
                  <a:tcPr>
                    <a:solidFill>
                      <a:srgbClr val="FFFFFF"/>
                    </a:solidFill>
                  </a:tcPr>
                </a:tc>
              </a:tr>
              <a:tr h="496388">
                <a:tc>
                  <a:txBody>
                    <a:bodyPr/>
                    <a:lstStyle/>
                    <a:p>
                      <a:pPr>
                        <a:defRPr sz="900" b="1">
                          <a:solidFill>
                            <a:srgbClr val="0F172A"/>
                          </a:solidFill>
                        </a:defRPr>
                      </a:pPr>
                      <a:r>
                        <a:rPr sz="1000"/>
                        <a:t>Subscription Expiry</a:t>
                      </a:r>
                      <a:endParaRPr sz="1000"/>
                    </a:p>
                  </a:txBody>
                  <a:tcPr>
                    <a:solidFill>
                      <a:srgbClr val="F1F5F9"/>
                    </a:solidFill>
                  </a:tcPr>
                </a:tc>
                <a:tc>
                  <a:txBody>
                    <a:bodyPr/>
                    <a:lstStyle/>
                    <a:p>
                      <a:pPr>
                        <a:defRPr sz="900">
                          <a:solidFill>
                            <a:srgbClr val="1E293B"/>
                          </a:solidFill>
                        </a:defRPr>
                      </a:pPr>
                      <a:r>
                        <a:rPr sz="1000"/>
                        <a:t>Trigger daily 8:00 AM Node-Cron expiry audit</a:t>
                      </a:r>
                      <a:endParaRPr sz="1000"/>
                    </a:p>
                  </a:txBody>
                  <a:tcPr>
                    <a:solidFill>
                      <a:srgbClr val="F1F5F9"/>
                    </a:solidFill>
                  </a:tcPr>
                </a:tc>
                <a:tc>
                  <a:txBody>
                    <a:bodyPr/>
                    <a:lstStyle/>
                    <a:p>
                      <a:pPr>
                        <a:defRPr sz="900">
                          <a:solidFill>
                            <a:srgbClr val="1E293B"/>
                          </a:solidFill>
                        </a:defRPr>
                      </a:pPr>
                      <a:r>
                        <a:rPr sz="1000"/>
                        <a:t>Identify plans &lt;= 7d, 3d, 0d; create single alert per key</a:t>
                      </a:r>
                      <a:endParaRPr sz="1000"/>
                    </a:p>
                  </a:txBody>
                  <a:tcPr>
                    <a:solidFill>
                      <a:srgbClr val="F1F5F9"/>
                    </a:solidFill>
                  </a:tcPr>
                </a:tc>
                <a:tc>
                  <a:txBody>
                    <a:bodyPr/>
                    <a:lstStyle/>
                    <a:p>
                      <a:pPr>
                        <a:defRPr sz="900">
                          <a:solidFill>
                            <a:srgbClr val="1E293B"/>
                          </a:solidFill>
                        </a:defRPr>
                      </a:pPr>
                      <a:r>
                        <a:rPr sz="1000"/>
                        <a:t>Audited correctly; reminderKey prevented duplicate alerts</a:t>
                      </a:r>
                      <a:endParaRPr sz="1000"/>
                    </a:p>
                  </a:txBody>
                  <a:tcPr>
                    <a:solidFill>
                      <a:srgbClr val="F1F5F9"/>
                    </a:solidFill>
                  </a:tcPr>
                </a:tc>
                <a:tc>
                  <a:txBody>
                    <a:bodyPr/>
                    <a:lstStyle/>
                    <a:p>
                      <a:pPr algn="ctr">
                        <a:defRPr sz="900" b="1">
                          <a:solidFill>
                            <a:srgbClr val="059669"/>
                          </a:solidFill>
                        </a:defRPr>
                      </a:pPr>
                      <a:r>
                        <a:rPr sz="1000"/>
                        <a:t>PASS</a:t>
                      </a:r>
                      <a:endParaRPr sz="1000"/>
                    </a:p>
                  </a:txBody>
                  <a:tcPr>
                    <a:solidFill>
                      <a:srgbClr val="F1F5F9"/>
                    </a:solidFill>
                  </a:tcPr>
                </a:tc>
              </a:tr>
              <a:tr h="496388">
                <a:tc>
                  <a:txBody>
                    <a:bodyPr/>
                    <a:lstStyle/>
                    <a:p>
                      <a:pPr>
                        <a:defRPr sz="900" b="1">
                          <a:solidFill>
                            <a:srgbClr val="0F172A"/>
                          </a:solidFill>
                        </a:defRPr>
                      </a:pPr>
                      <a:r>
                        <a:rPr sz="1000"/>
                        <a:t>Socket.IO Real-Time</a:t>
                      </a:r>
                      <a:endParaRPr sz="1000"/>
                    </a:p>
                  </a:txBody>
                  <a:tcPr>
                    <a:solidFill>
                      <a:srgbClr val="FFFFFF"/>
                    </a:solidFill>
                  </a:tcPr>
                </a:tc>
                <a:tc>
                  <a:txBody>
                    <a:bodyPr/>
                    <a:lstStyle/>
                    <a:p>
                      <a:pPr>
                        <a:defRPr sz="900">
                          <a:solidFill>
                            <a:srgbClr val="1E293B"/>
                          </a:solidFill>
                        </a:defRPr>
                      </a:pPr>
                      <a:r>
                        <a:rPr sz="1000"/>
                        <a:t>Member registers or requests plan while Admin is logged in</a:t>
                      </a:r>
                      <a:endParaRPr sz="1000"/>
                    </a:p>
                  </a:txBody>
                  <a:tcPr>
                    <a:solidFill>
                      <a:srgbClr val="FFFFFF"/>
                    </a:solidFill>
                  </a:tcPr>
                </a:tc>
                <a:tc>
                  <a:txBody>
                    <a:bodyPr/>
                    <a:lstStyle/>
                    <a:p>
                      <a:pPr>
                        <a:defRPr sz="900">
                          <a:solidFill>
                            <a:srgbClr val="1E293B"/>
                          </a:solidFill>
                        </a:defRPr>
                      </a:pPr>
                      <a:r>
                        <a:rPr sz="1000"/>
                        <a:t>Notification bell badge increments without page reload</a:t>
                      </a:r>
                      <a:endParaRPr sz="1000"/>
                    </a:p>
                  </a:txBody>
                  <a:tcPr>
                    <a:solidFill>
                      <a:srgbClr val="FFFFFF"/>
                    </a:solidFill>
                  </a:tcPr>
                </a:tc>
                <a:tc>
                  <a:txBody>
                    <a:bodyPr/>
                    <a:lstStyle/>
                    <a:p>
                      <a:pPr>
                        <a:defRPr sz="900">
                          <a:solidFill>
                            <a:srgbClr val="1E293B"/>
                          </a:solidFill>
                        </a:defRPr>
                      </a:pPr>
                      <a:r>
                        <a:rPr sz="1000"/>
                        <a:t>Socket.IO admin room emitted event; badge updated instantly</a:t>
                      </a:r>
                      <a:endParaRPr sz="1000"/>
                    </a:p>
                  </a:txBody>
                  <a:tcPr>
                    <a:solidFill>
                      <a:srgbClr val="FFFFFF"/>
                    </a:solidFill>
                  </a:tcPr>
                </a:tc>
                <a:tc>
                  <a:txBody>
                    <a:bodyPr/>
                    <a:lstStyle/>
                    <a:p>
                      <a:pPr algn="ctr">
                        <a:defRPr sz="900" b="1">
                          <a:solidFill>
                            <a:srgbClr val="059669"/>
                          </a:solidFill>
                        </a:defRPr>
                      </a:pPr>
                      <a:r>
                        <a:rPr sz="1000"/>
                        <a:t>PASS</a:t>
                      </a:r>
                      <a:endParaRPr sz="1000"/>
                    </a:p>
                  </a:txBody>
                  <a:tcPr>
                    <a:solidFill>
                      <a:srgbClr val="FFFFFF"/>
                    </a:solidFill>
                  </a:tcPr>
                </a:tc>
              </a:tr>
              <a:tr h="496392">
                <a:tc>
                  <a:txBody>
                    <a:bodyPr/>
                    <a:lstStyle/>
                    <a:p>
                      <a:pPr>
                        <a:defRPr sz="900" b="1">
                          <a:solidFill>
                            <a:srgbClr val="0F172A"/>
                          </a:solidFill>
                        </a:defRPr>
                      </a:pPr>
                      <a:r>
                        <a:rPr sz="1000"/>
                        <a:t>Aggregation APIs</a:t>
                      </a:r>
                      <a:endParaRPr sz="1000"/>
                    </a:p>
                  </a:txBody>
                  <a:tcPr>
                    <a:solidFill>
                      <a:srgbClr val="F1F5F9"/>
                    </a:solidFill>
                  </a:tcPr>
                </a:tc>
                <a:tc>
                  <a:txBody>
                    <a:bodyPr/>
                    <a:lstStyle/>
                    <a:p>
                      <a:pPr>
                        <a:defRPr sz="900">
                          <a:solidFill>
                            <a:srgbClr val="1E293B"/>
                          </a:solidFill>
                        </a:defRPr>
                      </a:pPr>
                      <a:r>
                        <a:rPr sz="1000"/>
                        <a:t>Call /api/dashboard/revenue-by-plan and stats</a:t>
                      </a:r>
                      <a:endParaRPr sz="1000"/>
                    </a:p>
                  </a:txBody>
                  <a:tcPr>
                    <a:solidFill>
                      <a:srgbClr val="F1F5F9"/>
                    </a:solidFill>
                  </a:tcPr>
                </a:tc>
                <a:tc>
                  <a:txBody>
                    <a:bodyPr/>
                    <a:lstStyle/>
                    <a:p>
                      <a:pPr>
                        <a:defRPr sz="900">
                          <a:solidFill>
                            <a:srgbClr val="1E293B"/>
                          </a:solidFill>
                        </a:defRPr>
                      </a:pPr>
                      <a:r>
                        <a:rPr sz="1000"/>
                        <a:t>Compute accurate totals matching live MongoDB records</a:t>
                      </a:r>
                      <a:endParaRPr sz="1000"/>
                    </a:p>
                  </a:txBody>
                  <a:tcPr>
                    <a:solidFill>
                      <a:srgbClr val="F1F5F9"/>
                    </a:solidFill>
                  </a:tcPr>
                </a:tc>
                <a:tc>
                  <a:txBody>
                    <a:bodyPr/>
                    <a:lstStyle/>
                    <a:p>
                      <a:pPr>
                        <a:defRPr sz="900">
                          <a:solidFill>
                            <a:srgbClr val="1E293B"/>
                          </a:solidFill>
                        </a:defRPr>
                      </a:pPr>
                      <a:r>
                        <a:rPr sz="1000"/>
                        <a:t>Total revenue ₹4,000, 11 trainers, 5 members matched exactly</a:t>
                      </a:r>
                      <a:endParaRPr sz="1000"/>
                    </a:p>
                  </a:txBody>
                  <a:tcPr>
                    <a:solidFill>
                      <a:srgbClr val="F1F5F9"/>
                    </a:solidFill>
                  </a:tcPr>
                </a:tc>
                <a:tc>
                  <a:txBody>
                    <a:bodyPr/>
                    <a:lstStyle/>
                    <a:p>
                      <a:pPr algn="ctr">
                        <a:defRPr sz="900" b="1">
                          <a:solidFill>
                            <a:srgbClr val="059669"/>
                          </a:solidFill>
                        </a:defRPr>
                      </a:pPr>
                      <a:r>
                        <a:rPr sz="1000"/>
                        <a:t>PASS</a:t>
                      </a:r>
                      <a:endParaRPr sz="1000"/>
                    </a:p>
                  </a:txBody>
                  <a:tcPr>
                    <a:solidFill>
                      <a:srgbClr val="F1F5F9"/>
                    </a:solidFill>
                  </a:tcPr>
                </a:tc>
              </a:tr>
            </a:tbl>
          </a:graphicData>
        </a:graphic>
      </p:graphicFrame>
      <p:sp>
        <p:nvSpPr>
          <p:cNvPr id="8" name="TextBox 7"/>
          <p:cNvSpPr txBox="1"/>
          <p:nvPr/>
        </p:nvSpPr>
        <p:spPr>
          <a:xfrm>
            <a:off x="777240" y="5212080"/>
            <a:ext cx="10652760" cy="883285"/>
          </a:xfrm>
          <a:prstGeom prst="rect">
            <a:avLst/>
          </a:prstGeom>
          <a:noFill/>
        </p:spPr>
        <p:txBody>
          <a:bodyPr wrap="square">
            <a:spAutoFit/>
          </a:bodyPr>
          <a:lstStyle/>
          <a:p>
            <a:pPr>
              <a:spcAft>
                <a:spcPts val="200"/>
              </a:spcAft>
              <a:defRPr sz="1050" b="1">
                <a:solidFill>
                  <a:srgbClr val="0F172A"/>
                </a:solidFill>
              </a:defRPr>
            </a:pPr>
            <a:r>
              <a:rPr sz="1200"/>
              <a:t>Documented Bug Fixes During Development:</a:t>
            </a:r>
            <a:endParaRPr sz="1200"/>
          </a:p>
          <a:p>
            <a:pPr>
              <a:lnSpc>
                <a:spcPct val="115000"/>
              </a:lnSpc>
              <a:spcAft>
                <a:spcPts val="100"/>
              </a:spcAft>
            </a:pPr>
            <a:r>
              <a:rPr sz="1050" b="1">
                <a:solidFill>
                  <a:srgbClr val="10B981"/>
                </a:solidFill>
              </a:rPr>
              <a:t>• </a:t>
            </a:r>
            <a:r>
              <a:rPr sz="1050" b="1">
                <a:solidFill>
                  <a:srgbClr val="0F172A"/>
                </a:solidFill>
                <a:latin typeface="Segoe UI" panose="020B0502040204020203"/>
              </a:rPr>
              <a:t>Mongoose 7 Migration: </a:t>
            </a:r>
            <a:r>
              <a:rPr sz="1050" b="0">
                <a:solidFill>
                  <a:srgbClr val="1E293B"/>
                </a:solidFill>
                <a:latin typeface="Segoe UI" panose="020B0502040204020203"/>
              </a:rPr>
              <a:t>Fixed async pre-save hooks in Member.js and Trainer.js by removing deprecated next() callbacks.</a:t>
            </a:r>
            <a:endParaRPr sz="1050" b="0">
              <a:solidFill>
                <a:srgbClr val="1E293B"/>
              </a:solidFill>
              <a:latin typeface="Segoe UI" panose="020B0502040204020203"/>
            </a:endParaRPr>
          </a:p>
          <a:p>
            <a:pPr>
              <a:lnSpc>
                <a:spcPct val="115000"/>
              </a:lnSpc>
              <a:spcAft>
                <a:spcPts val="100"/>
              </a:spcAft>
            </a:pPr>
            <a:r>
              <a:rPr sz="1050" b="1">
                <a:solidFill>
                  <a:srgbClr val="10B981"/>
                </a:solidFill>
              </a:rPr>
              <a:t>• </a:t>
            </a:r>
            <a:r>
              <a:rPr sz="1050" b="1">
                <a:solidFill>
                  <a:srgbClr val="0F172A"/>
                </a:solidFill>
                <a:latin typeface="Segoe UI" panose="020B0502040204020203"/>
              </a:rPr>
              <a:t>Race Condition Fix: </a:t>
            </a:r>
            <a:r>
              <a:rPr sz="1050" b="0">
                <a:solidFill>
                  <a:srgbClr val="1E293B"/>
                </a:solidFill>
                <a:latin typeface="Segoe UI" panose="020B0502040204020203"/>
              </a:rPr>
              <a:t>Replaced vulnerable countDocuments() ID generation with find-last + sequential increment collision loop.</a:t>
            </a:r>
            <a:endParaRPr sz="1050" b="0">
              <a:solidFill>
                <a:srgbClr val="1E293B"/>
              </a:solidFill>
              <a:latin typeface="Segoe UI" panose="020B0502040204020203"/>
            </a:endParaRPr>
          </a:p>
          <a:p>
            <a:pPr>
              <a:lnSpc>
                <a:spcPct val="115000"/>
              </a:lnSpc>
              <a:spcAft>
                <a:spcPts val="100"/>
              </a:spcAft>
            </a:pPr>
            <a:r>
              <a:rPr sz="1050" b="1">
                <a:solidFill>
                  <a:srgbClr val="10B981"/>
                </a:solidFill>
              </a:rPr>
              <a:t>• </a:t>
            </a:r>
            <a:r>
              <a:rPr sz="1050" b="1">
                <a:solidFill>
                  <a:srgbClr val="0F172A"/>
                </a:solidFill>
                <a:latin typeface="Segoe UI" panose="020B0502040204020203"/>
              </a:rPr>
              <a:t>Auth Token Exposure: </a:t>
            </a:r>
            <a:r>
              <a:rPr sz="1050" b="0">
                <a:solidFill>
                  <a:srgbClr val="1E293B"/>
                </a:solidFill>
                <a:latin typeface="Segoe UI" panose="020B0502040204020203"/>
              </a:rPr>
              <a:t>Resolved AuthContext.jsx bug where token state was missing from provider, restoring Socket.IO live auth.</a:t>
            </a:r>
            <a:endParaRPr sz="1050" b="0">
              <a:solidFill>
                <a:srgbClr val="1E293B"/>
              </a:solidFill>
              <a:latin typeface="Segoe UI" panose="020B050204020402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8961120" cy="594360"/>
          </a:xfrm>
          <a:prstGeom prst="rect">
            <a:avLst/>
          </a:prstGeom>
          <a:noFill/>
        </p:spPr>
        <p:txBody>
          <a:bodyPr wrap="square" lIns="0" tIns="0" rIns="0" bIns="0">
            <a:spAutoFit/>
          </a:bodyPr>
          <a:lstStyle/>
          <a:p>
            <a:pPr>
              <a:defRPr sz="2200" b="1">
                <a:solidFill>
                  <a:srgbClr val="0F172A"/>
                </a:solidFill>
                <a:latin typeface="Segoe UI" panose="020B0502040204020203"/>
              </a:defRPr>
            </a:pPr>
            <a:r>
              <a:t>11. Challenges, Conclusion and Future Scope</a:t>
            </a:r>
          </a:p>
        </p:txBody>
      </p:sp>
      <p:sp>
        <p:nvSpPr>
          <p:cNvPr id="4" name="Rounded Rectangle 3"/>
          <p:cNvSpPr/>
          <p:nvPr/>
        </p:nvSpPr>
        <p:spPr>
          <a:xfrm>
            <a:off x="9692640" y="384048"/>
            <a:ext cx="1874519" cy="329184"/>
          </a:xfrm>
          <a:prstGeom prst="roundRect">
            <a:avLst/>
          </a:prstGeom>
          <a:solidFill>
            <a:srgbClr val="D1FAE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59669"/>
                </a:solidFill>
                <a:latin typeface="Segoe UI" panose="020B0502040204020203"/>
              </a:defRPr>
            </a:pPr>
            <a:r>
              <a:t>Project Summary</a:t>
            </a:r>
          </a:p>
        </p:txBody>
      </p:sp>
      <p:sp>
        <p:nvSpPr>
          <p:cNvPr id="5" name="Rounded Rectangle 4"/>
          <p:cNvSpPr/>
          <p:nvPr/>
        </p:nvSpPr>
        <p:spPr>
          <a:xfrm>
            <a:off x="594360" y="1051560"/>
            <a:ext cx="3520440" cy="5212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188720"/>
            <a:ext cx="3154680" cy="3830320"/>
          </a:xfrm>
          <a:prstGeom prst="rect">
            <a:avLst/>
          </a:prstGeom>
          <a:noFill/>
        </p:spPr>
        <p:txBody>
          <a:bodyPr wrap="square">
            <a:spAutoFit/>
          </a:bodyPr>
          <a:lstStyle/>
          <a:p>
            <a:pPr>
              <a:spcAft>
                <a:spcPts val="600"/>
              </a:spcAft>
              <a:defRPr sz="1300" b="1">
                <a:solidFill>
                  <a:srgbClr val="EF4444"/>
                </a:solidFill>
              </a:defRPr>
            </a:pPr>
            <a:endParaRPr sz="1400"/>
          </a:p>
          <a:p>
            <a:pPr indent="457200">
              <a:spcAft>
                <a:spcPts val="600"/>
              </a:spcAft>
              <a:defRPr sz="1300" b="1">
                <a:solidFill>
                  <a:srgbClr val="EF4444"/>
                </a:solidFill>
              </a:defRPr>
            </a:pPr>
            <a:r>
              <a:rPr sz="1400"/>
              <a:t>Real Engineering Challenges</a:t>
            </a:r>
            <a:endParaRPr sz="1400"/>
          </a:p>
          <a:p>
            <a:pPr indent="457200">
              <a:spcAft>
                <a:spcPts val="600"/>
              </a:spcAft>
              <a:defRPr sz="1300" b="1">
                <a:solidFill>
                  <a:srgbClr val="EF4444"/>
                </a:solidFill>
              </a:defRPr>
            </a:pPr>
            <a:endParaRPr sz="1400"/>
          </a:p>
          <a:p>
            <a:pPr>
              <a:lnSpc>
                <a:spcPct val="115000"/>
              </a:lnSpc>
              <a:spcAft>
                <a:spcPts val="400"/>
              </a:spcAft>
            </a:pPr>
            <a:r>
              <a:rPr sz="1200" b="1">
                <a:solidFill>
                  <a:srgbClr val="10B981"/>
                </a:solidFill>
              </a:rPr>
              <a:t>• </a:t>
            </a:r>
            <a:r>
              <a:rPr sz="1200" b="1">
                <a:solidFill>
                  <a:srgbClr val="0F172A"/>
                </a:solidFill>
                <a:latin typeface="Segoe UI" panose="020B0502040204020203"/>
              </a:rPr>
              <a:t>ID Generation Race Conditions: </a:t>
            </a:r>
            <a:r>
              <a:rPr sz="1200" b="0">
                <a:solidFill>
                  <a:srgbClr val="1E293B"/>
                </a:solidFill>
                <a:latin typeface="Segoe UI" panose="020B0502040204020203"/>
              </a:rPr>
              <a:t>countDocuments() caused duplicate MEM# errors when records were deleted. Solved by querying the highest sequential ID and looping with exists() checks.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Duplicate Expiry Spam: </a:t>
            </a:r>
            <a:r>
              <a:rPr sz="1200" b="0">
                <a:solidFill>
                  <a:srgbClr val="1E293B"/>
                </a:solidFill>
                <a:latin typeface="Segoe UI" panose="020B0502040204020203"/>
              </a:rPr>
              <a:t>Daily cron jobs could repeatedly notify admins of expiring plans. Solved by introducing deterministic reminderKey metadata queries in MongoDB.</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Real-Time Synchronization: </a:t>
            </a:r>
            <a:r>
              <a:rPr sz="1200" b="0">
                <a:solidFill>
                  <a:srgbClr val="1E293B"/>
                </a:solidFill>
                <a:latin typeface="Segoe UI" panose="020B0502040204020203"/>
              </a:rPr>
              <a:t>Admins missed notifications when offline. Solved by persisting all notifications to MongoDB before broadcasting via Socket.IO rooms.</a:t>
            </a:r>
            <a:endParaRPr sz="1200" b="0">
              <a:solidFill>
                <a:srgbClr val="1E293B"/>
              </a:solidFill>
              <a:latin typeface="Segoe UI" panose="020B0502040204020203"/>
            </a:endParaRPr>
          </a:p>
        </p:txBody>
      </p:sp>
      <p:sp>
        <p:nvSpPr>
          <p:cNvPr id="7" name="Rounded Rectangle 6"/>
          <p:cNvSpPr/>
          <p:nvPr/>
        </p:nvSpPr>
        <p:spPr>
          <a:xfrm>
            <a:off x="4334256" y="1051560"/>
            <a:ext cx="3520440" cy="5212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17136" y="1188720"/>
            <a:ext cx="3154680" cy="4305935"/>
          </a:xfrm>
          <a:prstGeom prst="rect">
            <a:avLst/>
          </a:prstGeom>
          <a:noFill/>
        </p:spPr>
        <p:txBody>
          <a:bodyPr wrap="square">
            <a:spAutoFit/>
          </a:bodyPr>
          <a:lstStyle/>
          <a:p>
            <a:pPr>
              <a:spcAft>
                <a:spcPts val="600"/>
              </a:spcAft>
              <a:defRPr sz="1300" b="1">
                <a:solidFill>
                  <a:srgbClr val="059669"/>
                </a:solidFill>
              </a:defRPr>
            </a:pPr>
            <a:endParaRPr sz="1400"/>
          </a:p>
          <a:p>
            <a:pPr indent="457200">
              <a:spcAft>
                <a:spcPts val="600"/>
              </a:spcAft>
              <a:defRPr sz="1300" b="1">
                <a:solidFill>
                  <a:srgbClr val="059669"/>
                </a:solidFill>
              </a:defRPr>
            </a:pPr>
            <a:r>
              <a:rPr lang="en-US" sz="1400"/>
              <a:t>O</a:t>
            </a:r>
            <a:r>
              <a:rPr sz="1400"/>
              <a:t>bjectives Achieved</a:t>
            </a:r>
            <a:endParaRPr sz="1400"/>
          </a:p>
          <a:p>
            <a:pPr indent="457200">
              <a:spcAft>
                <a:spcPts val="600"/>
              </a:spcAft>
              <a:defRPr sz="1300" b="1">
                <a:solidFill>
                  <a:srgbClr val="059669"/>
                </a:solidFill>
              </a:defRPr>
            </a:pPr>
            <a:endParaRPr sz="1400"/>
          </a:p>
          <a:p>
            <a:pPr>
              <a:lnSpc>
                <a:spcPct val="115000"/>
              </a:lnSpc>
              <a:spcAft>
                <a:spcPts val="400"/>
              </a:spcAft>
            </a:pPr>
            <a:r>
              <a:rPr sz="1200" b="1">
                <a:solidFill>
                  <a:srgbClr val="10B981"/>
                </a:solidFill>
              </a:rPr>
              <a:t>• </a:t>
            </a:r>
            <a:r>
              <a:rPr sz="1200" b="1">
                <a:solidFill>
                  <a:srgbClr val="0F172A"/>
                </a:solidFill>
                <a:latin typeface="Segoe UI" panose="020B0502040204020203"/>
              </a:rPr>
              <a:t>Complete MERN Solution: </a:t>
            </a:r>
            <a:r>
              <a:rPr sz="1200" b="0">
                <a:solidFill>
                  <a:srgbClr val="1E293B"/>
                </a:solidFill>
                <a:latin typeface="Segoe UI" panose="020B0502040204020203"/>
              </a:rPr>
              <a:t>Successfully delivered a full-stack, production-ready gym management system with dual RBAC portals.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MongoDB Best Practices: </a:t>
            </a:r>
            <a:r>
              <a:rPr sz="1200" b="0">
                <a:solidFill>
                  <a:srgbClr val="1E293B"/>
                </a:solidFill>
                <a:latin typeface="Segoe UI" panose="020B0502040204020203"/>
              </a:rPr>
              <a:t>Demonstrated optimal document modeling across 8 collections, compound indexes, and aggregation pipelines.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High Data Integrity: </a:t>
            </a:r>
            <a:r>
              <a:rPr sz="1200" b="0">
                <a:solidFill>
                  <a:srgbClr val="1E293B"/>
                </a:solidFill>
                <a:latin typeface="Segoe UI" panose="020B0502040204020203"/>
              </a:rPr>
              <a:t>Enforced schema constraints, cascading referential cleanup, and immutable embedded plan snapshots.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Proven Reliability: </a:t>
            </a:r>
            <a:r>
              <a:rPr sz="1200" b="0">
                <a:solidFill>
                  <a:srgbClr val="1E293B"/>
                </a:solidFill>
                <a:latin typeface="Segoe UI" panose="020B0502040204020203"/>
              </a:rPr>
              <a:t>Zero duplicate attendance records, sub-second API performance, and seamless WebSocket state updates.</a:t>
            </a:r>
            <a:endParaRPr sz="1200" b="0">
              <a:solidFill>
                <a:srgbClr val="1E293B"/>
              </a:solidFill>
              <a:latin typeface="Segoe UI" panose="020B0502040204020203"/>
            </a:endParaRPr>
          </a:p>
        </p:txBody>
      </p:sp>
      <p:sp>
        <p:nvSpPr>
          <p:cNvPr id="9" name="Rounded Rectangle 8"/>
          <p:cNvSpPr/>
          <p:nvPr/>
        </p:nvSpPr>
        <p:spPr>
          <a:xfrm>
            <a:off x="8074152" y="1051560"/>
            <a:ext cx="3520440" cy="5212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7032" y="1188720"/>
            <a:ext cx="3154680" cy="3881120"/>
          </a:xfrm>
          <a:prstGeom prst="rect">
            <a:avLst/>
          </a:prstGeom>
          <a:noFill/>
        </p:spPr>
        <p:txBody>
          <a:bodyPr wrap="square">
            <a:spAutoFit/>
          </a:bodyPr>
          <a:lstStyle/>
          <a:p>
            <a:pPr>
              <a:spcAft>
                <a:spcPts val="600"/>
              </a:spcAft>
              <a:defRPr sz="1300" b="1">
                <a:solidFill>
                  <a:srgbClr val="4F46E5"/>
                </a:solidFill>
              </a:defRPr>
            </a:pPr>
            <a:endParaRPr sz="1400"/>
          </a:p>
          <a:p>
            <a:pPr indent="457200">
              <a:spcAft>
                <a:spcPts val="600"/>
              </a:spcAft>
              <a:defRPr sz="1300" b="1">
                <a:solidFill>
                  <a:srgbClr val="4F46E5"/>
                </a:solidFill>
              </a:defRPr>
            </a:pPr>
            <a:r>
              <a:rPr sz="1400"/>
              <a:t>Realistic Future Roadmap</a:t>
            </a:r>
            <a:endParaRPr sz="1400"/>
          </a:p>
          <a:p>
            <a:pPr indent="457200">
              <a:spcAft>
                <a:spcPts val="600"/>
              </a:spcAft>
              <a:defRPr sz="1300" b="1">
                <a:solidFill>
                  <a:srgbClr val="4F46E5"/>
                </a:solidFill>
              </a:defRPr>
            </a:pPr>
            <a:endParaRPr sz="1400"/>
          </a:p>
          <a:p>
            <a:pPr>
              <a:lnSpc>
                <a:spcPct val="115000"/>
              </a:lnSpc>
              <a:spcAft>
                <a:spcPts val="400"/>
              </a:spcAft>
            </a:pPr>
            <a:r>
              <a:rPr sz="1200" b="1">
                <a:solidFill>
                  <a:srgbClr val="10B981"/>
                </a:solidFill>
              </a:rPr>
              <a:t>• </a:t>
            </a:r>
            <a:r>
              <a:rPr sz="1200" b="1">
                <a:solidFill>
                  <a:srgbClr val="0F172A"/>
                </a:solidFill>
                <a:latin typeface="Segoe UI" panose="020B0502040204020203"/>
              </a:rPr>
              <a:t>Payment Gateway Integration: </a:t>
            </a:r>
            <a:r>
              <a:rPr sz="1200" b="0">
                <a:solidFill>
                  <a:srgbClr val="1E293B"/>
                </a:solidFill>
                <a:latin typeface="Segoe UI" panose="020B0502040204020203"/>
              </a:rPr>
              <a:t>Integrate Razorpay or Stripe for automated credit card and UPI membership payments.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Biometric Turnstile Hardware: </a:t>
            </a:r>
            <a:r>
              <a:rPr sz="1200" b="0">
                <a:solidFill>
                  <a:srgbClr val="1E293B"/>
                </a:solidFill>
                <a:latin typeface="Segoe UI" panose="020B0502040204020203"/>
              </a:rPr>
              <a:t>Connect physical fingerprint or QR turnstiles via backend webhooks for physical entry gating.</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WhatsApp &amp; SMS Alerts: </a:t>
            </a:r>
            <a:r>
              <a:rPr sz="1200" b="0">
                <a:solidFill>
                  <a:srgbClr val="1E293B"/>
                </a:solidFill>
                <a:latin typeface="Segoe UI" panose="020B0502040204020203"/>
              </a:rPr>
              <a:t>Implement Twilio integration for automated mobile renewal notifications directly to member phones.</a:t>
            </a:r>
            <a:endParaRPr sz="1200" b="0">
              <a:solidFill>
                <a:srgbClr val="1E293B"/>
              </a:solidFill>
              <a:latin typeface="Segoe UI" panose="020B0502040204020203"/>
            </a:endParaRPr>
          </a:p>
          <a:p>
            <a:pPr>
              <a:lnSpc>
                <a:spcPct val="115000"/>
              </a:lnSpc>
              <a:spcAft>
                <a:spcPts val="400"/>
              </a:spcAft>
            </a:pPr>
            <a:r>
              <a:rPr sz="1200" b="1">
                <a:solidFill>
                  <a:srgbClr val="10B981"/>
                </a:solidFill>
              </a:rPr>
              <a:t>• </a:t>
            </a:r>
            <a:r>
              <a:rPr sz="1200" b="1">
                <a:solidFill>
                  <a:srgbClr val="0F172A"/>
                </a:solidFill>
                <a:latin typeface="Segoe UI" panose="020B0502040204020203"/>
              </a:rPr>
              <a:t>Multi-Branch Tenancy: </a:t>
            </a:r>
            <a:r>
              <a:rPr sz="1200" b="0">
                <a:solidFill>
                  <a:srgbClr val="1E293B"/>
                </a:solidFill>
                <a:latin typeface="Segoe UI" panose="020B0502040204020203"/>
              </a:rPr>
              <a:t>Extend MongoDB schemas with gymBranchId to support multi-gym franchises on a single platform.</a:t>
            </a:r>
            <a:endParaRPr sz="1200" b="0">
              <a:solidFill>
                <a:srgbClr val="1E293B"/>
              </a:solidFill>
              <a:latin typeface="Segoe UI" panose="020B050204020402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8961120" cy="594360"/>
          </a:xfrm>
          <a:prstGeom prst="rect">
            <a:avLst/>
          </a:prstGeom>
          <a:noFill/>
        </p:spPr>
        <p:txBody>
          <a:bodyPr wrap="square" lIns="0" tIns="0" rIns="0" bIns="0">
            <a:spAutoFit/>
          </a:bodyPr>
          <a:lstStyle/>
          <a:p>
            <a:pPr>
              <a:defRPr sz="2200" b="1">
                <a:solidFill>
                  <a:srgbClr val="0F172A"/>
                </a:solidFill>
                <a:latin typeface="Segoe UI" panose="020B0502040204020203"/>
              </a:defRPr>
            </a:pPr>
            <a:r>
              <a:t>12. References and Q&amp;A</a:t>
            </a:r>
          </a:p>
        </p:txBody>
      </p:sp>
      <p:sp>
        <p:nvSpPr>
          <p:cNvPr id="4" name="Rounded Rectangle 3"/>
          <p:cNvSpPr/>
          <p:nvPr/>
        </p:nvSpPr>
        <p:spPr>
          <a:xfrm>
            <a:off x="9692640" y="384048"/>
            <a:ext cx="1874519" cy="329184"/>
          </a:xfrm>
          <a:prstGeom prst="roundRect">
            <a:avLst/>
          </a:prstGeom>
          <a:solidFill>
            <a:srgbClr val="D1FAE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59669"/>
                </a:solidFill>
                <a:latin typeface="Segoe UI" panose="020B0502040204020203"/>
              </a:defRPr>
            </a:pPr>
            <a:r>
              <a:t>Conclusion &amp; Sources</a:t>
            </a:r>
          </a:p>
        </p:txBody>
      </p:sp>
      <p:sp>
        <p:nvSpPr>
          <p:cNvPr id="5" name="Rounded Rectangle 4"/>
          <p:cNvSpPr/>
          <p:nvPr/>
        </p:nvSpPr>
        <p:spPr>
          <a:xfrm>
            <a:off x="594360" y="1051560"/>
            <a:ext cx="621792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188720"/>
            <a:ext cx="5852160" cy="4170680"/>
          </a:xfrm>
          <a:prstGeom prst="rect">
            <a:avLst/>
          </a:prstGeom>
          <a:noFill/>
        </p:spPr>
        <p:txBody>
          <a:bodyPr wrap="square">
            <a:spAutoFit/>
          </a:bodyPr>
          <a:lstStyle/>
          <a:p>
            <a:pPr indent="457200">
              <a:spcAft>
                <a:spcPts val="600"/>
              </a:spcAft>
              <a:defRPr sz="1300" b="1">
                <a:solidFill>
                  <a:srgbClr val="0F172A"/>
                </a:solidFill>
              </a:defRPr>
            </a:pPr>
            <a:endParaRPr sz="1400"/>
          </a:p>
          <a:p>
            <a:pPr marL="457200" lvl="1" indent="457200">
              <a:spcAft>
                <a:spcPts val="600"/>
              </a:spcAft>
              <a:defRPr sz="1300" b="1">
                <a:solidFill>
                  <a:srgbClr val="0F172A"/>
                </a:solidFill>
              </a:defRPr>
            </a:pPr>
            <a:r>
              <a:rPr sz="1400"/>
              <a:t>Official Documentation &amp; Technical Sources</a:t>
            </a:r>
            <a:endParaRPr sz="1400"/>
          </a:p>
          <a:p>
            <a:pPr indent="457200">
              <a:spcAft>
                <a:spcPts val="600"/>
              </a:spcAft>
              <a:defRPr sz="1300" b="1">
                <a:solidFill>
                  <a:srgbClr val="0F172A"/>
                </a:solidFill>
              </a:defRPr>
            </a:pPr>
            <a:endParaRPr sz="1400"/>
          </a:p>
          <a:p>
            <a:pPr>
              <a:lnSpc>
                <a:spcPct val="115000"/>
              </a:lnSpc>
              <a:spcAft>
                <a:spcPts val="300"/>
              </a:spcAft>
            </a:pPr>
            <a:r>
              <a:rPr sz="1200" b="1">
                <a:solidFill>
                  <a:srgbClr val="10B981"/>
                </a:solidFill>
              </a:rPr>
              <a:t>• </a:t>
            </a:r>
            <a:r>
              <a:rPr sz="1200" b="1">
                <a:solidFill>
                  <a:srgbClr val="0F172A"/>
                </a:solidFill>
                <a:latin typeface="Segoe UI" panose="020B0502040204020203"/>
              </a:rPr>
              <a:t>MongoDB Manual: </a:t>
            </a:r>
            <a:r>
              <a:rPr sz="1200" b="0">
                <a:solidFill>
                  <a:srgbClr val="1E293B"/>
                </a:solidFill>
                <a:latin typeface="Segoe UI" panose="020B0502040204020203"/>
              </a:rPr>
              <a:t>MongoDB Inc. 'The MongoDB 7.0 Manual &amp; Aggregation Pipeline Reference.' https://www.mongodb.com/docs/</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Mongoose ODM: </a:t>
            </a:r>
            <a:r>
              <a:rPr sz="1200" b="0">
                <a:solidFill>
                  <a:srgbClr val="1E293B"/>
                </a:solidFill>
                <a:latin typeface="Segoe UI" panose="020B0502040204020203"/>
              </a:rPr>
              <a:t>Automattic. 'Mongoose v7.8 Guide: Schemas, Middleware &amp; Validation.' https://mongoosejs.com/docs/</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React Documentation: </a:t>
            </a:r>
            <a:r>
              <a:rPr sz="1200" b="0">
                <a:solidFill>
                  <a:srgbClr val="1E293B"/>
                </a:solidFill>
                <a:latin typeface="Segoe UI" panose="020B0502040204020203"/>
              </a:rPr>
              <a:t>Meta Open Source. 'React 18 &amp; Hooks Architecture Reference.' https://react.dev/</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Express.js Framework: </a:t>
            </a:r>
            <a:r>
              <a:rPr sz="1200" b="0">
                <a:solidFill>
                  <a:srgbClr val="1E293B"/>
                </a:solidFill>
                <a:latin typeface="Segoe UI" panose="020B0502040204020203"/>
              </a:rPr>
              <a:t>OpenJS Foundation. 'Express 4.x REST Routing &amp; Middleware Framework.' https://expressjs.com/</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Socket.IO Specification: </a:t>
            </a:r>
            <a:r>
              <a:rPr sz="1200" b="0">
                <a:solidFill>
                  <a:srgbClr val="1E293B"/>
                </a:solidFill>
                <a:latin typeface="Segoe UI" panose="020B0502040204020203"/>
              </a:rPr>
              <a:t>Socket.IO Team. 'Socket.IO 4.x Bidirectional WebSocket Specification.' https://socket.io/docs/v4/</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Tailwind CSS: </a:t>
            </a:r>
            <a:r>
              <a:rPr sz="1200" b="0">
                <a:solidFill>
                  <a:srgbClr val="1E293B"/>
                </a:solidFill>
                <a:latin typeface="Segoe UI" panose="020B0502040204020203"/>
              </a:rPr>
              <a:t>Tailwind Labs. 'Tailwind CSS Utility-First Framework Documentation.' https://tailwindcss.com/docs</a:t>
            </a:r>
            <a:endParaRPr sz="1200" b="0">
              <a:solidFill>
                <a:srgbClr val="1E293B"/>
              </a:solidFill>
              <a:latin typeface="Segoe UI" panose="020B0502040204020203"/>
            </a:endParaRPr>
          </a:p>
          <a:p>
            <a:pPr>
              <a:lnSpc>
                <a:spcPct val="115000"/>
              </a:lnSpc>
              <a:spcAft>
                <a:spcPts val="300"/>
              </a:spcAft>
            </a:pPr>
            <a:r>
              <a:rPr sz="1200" b="1">
                <a:solidFill>
                  <a:srgbClr val="10B981"/>
                </a:solidFill>
              </a:rPr>
              <a:t>• </a:t>
            </a:r>
            <a:r>
              <a:rPr sz="1200" b="1">
                <a:solidFill>
                  <a:srgbClr val="0F172A"/>
                </a:solidFill>
                <a:latin typeface="Segoe UI" panose="020B0502040204020203"/>
              </a:rPr>
              <a:t>FitPro GitHub Repository: </a:t>
            </a:r>
            <a:r>
              <a:rPr sz="1200" b="0">
                <a:solidFill>
                  <a:srgbClr val="1E293B"/>
                </a:solidFill>
                <a:latin typeface="Segoe UI" panose="020B0502040204020203"/>
              </a:rPr>
              <a:t>Nithin Ponnuru. 'FitPro Gym Management System Source Repository.' https://github.com/nithin-ponnuru/Gym-Management-System</a:t>
            </a:r>
            <a:endParaRPr sz="1200" b="0">
              <a:solidFill>
                <a:srgbClr val="1E293B"/>
              </a:solidFill>
              <a:latin typeface="Segoe UI" panose="020B0502040204020203"/>
            </a:endParaRPr>
          </a:p>
        </p:txBody>
      </p:sp>
      <p:sp>
        <p:nvSpPr>
          <p:cNvPr id="7" name="Rounded Rectangle 6"/>
          <p:cNvSpPr/>
          <p:nvPr/>
        </p:nvSpPr>
        <p:spPr>
          <a:xfrm>
            <a:off x="7040880" y="1051560"/>
            <a:ext cx="4572000" cy="52578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ogo.png"/>
          <p:cNvPicPr>
            <a:picLocks noChangeAspect="1"/>
          </p:cNvPicPr>
          <p:nvPr/>
        </p:nvPicPr>
        <p:blipFill>
          <a:blip r:embed="rId1"/>
          <a:stretch>
            <a:fillRect/>
          </a:stretch>
        </p:blipFill>
        <p:spPr>
          <a:xfrm>
            <a:off x="8595360" y="1280160"/>
            <a:ext cx="1463040" cy="1463040"/>
          </a:xfrm>
          <a:prstGeom prst="rect">
            <a:avLst/>
          </a:prstGeom>
        </p:spPr>
      </p:pic>
      <p:sp>
        <p:nvSpPr>
          <p:cNvPr id="9" name="TextBox 8"/>
          <p:cNvSpPr txBox="1"/>
          <p:nvPr/>
        </p:nvSpPr>
        <p:spPr>
          <a:xfrm>
            <a:off x="7223760" y="2834640"/>
            <a:ext cx="4206240" cy="3200400"/>
          </a:xfrm>
          <a:prstGeom prst="rect">
            <a:avLst/>
          </a:prstGeom>
          <a:noFill/>
        </p:spPr>
        <p:txBody>
          <a:bodyPr wrap="square">
            <a:spAutoFit/>
          </a:bodyPr>
          <a:lstStyle/>
          <a:p>
            <a:pPr algn="ctr">
              <a:spcAft>
                <a:spcPts val="400"/>
              </a:spcAft>
              <a:defRPr sz="2800" b="1">
                <a:solidFill>
                  <a:srgbClr val="0F172A"/>
                </a:solidFill>
                <a:latin typeface="Segoe UI" panose="020B0502040204020203"/>
              </a:defRPr>
            </a:pPr>
            <a:r>
              <a:t>Thank You!</a:t>
            </a:r>
          </a:p>
          <a:p>
            <a:pPr algn="ctr">
              <a:spcAft>
                <a:spcPts val="1200"/>
              </a:spcAft>
              <a:defRPr sz="1800" b="1">
                <a:solidFill>
                  <a:srgbClr val="10B981"/>
                </a:solidFill>
                <a:latin typeface="Segoe UI" panose="020B0502040204020203"/>
              </a:defRPr>
            </a:pPr>
            <a:r>
              <a:t>Questions &amp; Answers</a:t>
            </a:r>
          </a:p>
          <a:p>
            <a:pPr algn="ctr">
              <a:spcAft>
                <a:spcPts val="800"/>
              </a:spcAft>
              <a:defRPr sz="1100">
                <a:solidFill>
                  <a:srgbClr val="64748B"/>
                </a:solidFill>
              </a:defRPr>
            </a:pPr>
            <a:r>
              <a:t>Open for Faculty Evaluation &amp; Project Viva</a:t>
            </a:r>
          </a:p>
          <a:p>
            <a:pPr algn="ctr">
              <a:defRPr sz="1050" b="1">
                <a:solidFill>
                  <a:srgbClr val="1E293B"/>
                </a:solidFill>
              </a:defRPr>
            </a:pPr>
            <a:r>
              <a:t>Presenter: Nithin Ponnuru</a:t>
            </a:r>
            <a:br/>
            <a:r>
              <a:t>B.Tech. Computer Science &amp; Engineering</a:t>
            </a:r>
            <a:br/>
            <a:r>
              <a:t>Lovely Professional University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20954</Words>
  <Application>WPS Presentation</Application>
  <PresentationFormat>On-screen Show (4:3)</PresentationFormat>
  <Paragraphs>410</Paragraphs>
  <Slides>15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SimSun</vt:lpstr>
      <vt:lpstr>Wingdings</vt:lpstr>
      <vt:lpstr>Arial</vt:lpstr>
      <vt:lpstr>Segoe UI</vt:lpstr>
      <vt:lpstr>Consolas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Ponnuru Nithin</cp:lastModifiedBy>
  <cp:revision>4</cp:revision>
  <dcterms:created xsi:type="dcterms:W3CDTF">2013-01-27T09:14:00Z</dcterms:created>
  <dcterms:modified xsi:type="dcterms:W3CDTF">2026-10-24T10:22:44Z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4D479AF0D3094A319E516DEA6AD22D25_12</vt:lpwstr>
  </property>
</Properties>
</file>